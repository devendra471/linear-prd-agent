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5"/>
    <p:sldMasterId id="2147483669" r:id="rId6"/>
  </p:sldMasterIdLst>
  <p:notesMasterIdLst>
    <p:notesMasterId r:id="rId7"/>
  </p:notesMasterIdLst>
  <p:sldIdLst>
    <p:sldId id="256" r:id="rId8"/>
    <p:sldId id="257" r:id="rId9"/>
    <p:sldId id="258" r:id="rId12"/>
    <p:sldId id="259" r:id="rId13"/>
  </p:sldIdLst>
  <p:sldSz cy="5143500" cx="9144000"/>
  <p:notesSz cx="6858000" cy="9144000"/>
  <p:embeddedFontLst>
    <p:embeddedFont>
      <p:font typeface="Manrope"/>
      <p:regular r:id="rId10"/>
      <p:bold r:id="rId1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EE02122-0968-4535-85BE-7FB82C2E50CA}">
  <a:tblStyle styleId="{EEE02122-0968-4535-85BE-7FB82C2E50CA}" styleName="Table_0"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rgbClr val="0097A7">
              <a:alpha val="20000"/>
            </a:srgbClr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0097A7">
              <a:alpha val="20000"/>
            </a:srgb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508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25400">
              <a:solidFill>
                <a:srgbClr val="0097A7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font" Target="fonts/Manrope-regular.fntdata"/><Relationship Id="rId11" Type="http://schemas.openxmlformats.org/officeDocument/2006/relationships/font" Target="fonts/Manrope-bold.fntdata"/><Relationship Id="rId12" Type="http://schemas.openxmlformats.org/officeDocument/2006/relationships/slide" Target="slides/slide3.xml"/><Relationship Id="rId13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0d7927554_0_10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g3f0d7927554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Bolder heading and tile effect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f7b8211433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g3f7b821143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8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title"/>
          </p:nvPr>
        </p:nvSpPr>
        <p:spPr>
          <a:xfrm>
            <a:off x="216000" y="11212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/>
        </p:nvSpPr>
        <p:spPr>
          <a:xfrm>
            <a:off x="8902931" y="4869656"/>
            <a:ext cx="241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fld id="{00000000-1234-1234-1234-123412341234}" type="slidenum">
              <a:rPr b="0" i="0" lang="en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700" u="none" cap="none" strike="noStrike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2385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5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2pPr>
            <a:lvl3pPr indent="-3048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Char char="•"/>
              <a:defRPr/>
            </a:lvl3pPr>
            <a:lvl4pPr indent="-2984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Char char="•"/>
              <a:defRPr/>
            </a:lvl4pPr>
            <a:lvl5pPr indent="-2984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/>
          <p:nvPr>
            <p:ph idx="10" type="dt"/>
          </p:nvPr>
        </p:nvSpPr>
        <p:spPr>
          <a:xfrm>
            <a:off x="342986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3" name="Google Shape;63;p16"/>
          <p:cNvSpPr txBox="1"/>
          <p:nvPr>
            <p:ph idx="11" type="ftr"/>
          </p:nvPr>
        </p:nvSpPr>
        <p:spPr>
          <a:xfrm>
            <a:off x="2343736" y="4767263"/>
            <a:ext cx="21723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4916130" y="4767263"/>
            <a:ext cx="160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 1">
  <p:cSld name="One column 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2" name="Google Shape;72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379769" y="1649667"/>
            <a:ext cx="4771285" cy="3172118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20"/>
          <p:cNvSpPr txBox="1"/>
          <p:nvPr>
            <p:ph type="title"/>
          </p:nvPr>
        </p:nvSpPr>
        <p:spPr>
          <a:xfrm>
            <a:off x="524290" y="1678806"/>
            <a:ext cx="3545700" cy="63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sz="1800"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" type="body"/>
          </p:nvPr>
        </p:nvSpPr>
        <p:spPr>
          <a:xfrm>
            <a:off x="524290" y="2494073"/>
            <a:ext cx="3545700" cy="703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1100"/>
              <a:buNone/>
              <a:defRPr sz="110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2" type="sldNum"/>
          </p:nvPr>
        </p:nvSpPr>
        <p:spPr>
          <a:xfrm>
            <a:off x="8902931" y="4869656"/>
            <a:ext cx="241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9" name="Google Shape;79;p20"/>
          <p:cNvSpPr txBox="1"/>
          <p:nvPr/>
        </p:nvSpPr>
        <p:spPr>
          <a:xfrm>
            <a:off x="4810011" y="2246105"/>
            <a:ext cx="987600" cy="10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BE BOLD</a:t>
            </a:r>
            <a:endParaRPr b="1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Taking calculated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risk</a:t>
            </a:r>
            <a:r>
              <a:rPr b="1" i="0" lang="en" sz="800" u="none" cap="none" strike="noStrik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is key to making progress. We act with confidence and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agility</a:t>
            </a:r>
            <a:r>
              <a:rPr b="0" i="0" lang="en" sz="800" u="none" cap="none" strike="noStrik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to accomplish our goals</a:t>
            </a:r>
            <a:endParaRPr b="0" i="0" sz="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20"/>
          <p:cNvSpPr txBox="1"/>
          <p:nvPr/>
        </p:nvSpPr>
        <p:spPr>
          <a:xfrm>
            <a:off x="6036653" y="2229764"/>
            <a:ext cx="1266300" cy="1069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OWN IT</a:t>
            </a:r>
            <a:endParaRPr b="0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Feeling and acting </a:t>
            </a: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empowered</a:t>
            </a:r>
            <a:r>
              <a:rPr b="1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is critical to drive results.  We have an </a:t>
            </a: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Owner’s Mind-set</a:t>
            </a:r>
            <a:r>
              <a:rPr b="1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and each of us takes full responsibility for the outcomes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20"/>
          <p:cNvSpPr txBox="1"/>
          <p:nvPr/>
        </p:nvSpPr>
        <p:spPr>
          <a:xfrm>
            <a:off x="4810011" y="3313406"/>
            <a:ext cx="1226700" cy="11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SOLVE TOGETHER</a:t>
            </a:r>
            <a:endParaRPr b="1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Leveraging our collective genius while holding each other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accountable</a:t>
            </a: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helps us deliver the best. We </a:t>
            </a:r>
            <a:r>
              <a:rPr b="1" i="0" lang="en" sz="800" u="none" cap="none" strike="noStrike">
                <a:solidFill>
                  <a:srgbClr val="ED7D31"/>
                </a:solidFill>
                <a:latin typeface="Calibri"/>
                <a:ea typeface="Calibri"/>
                <a:cs typeface="Calibri"/>
                <a:sym typeface="Calibri"/>
              </a:rPr>
              <a:t>collaborate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proactively and transparently to achieve innovative solutions</a:t>
            </a:r>
            <a:endParaRPr b="0" i="0" sz="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20"/>
          <p:cNvSpPr txBox="1"/>
          <p:nvPr/>
        </p:nvSpPr>
        <p:spPr>
          <a:xfrm>
            <a:off x="6049221" y="3313406"/>
            <a:ext cx="1157400" cy="13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BE EMPATHETIC</a:t>
            </a:r>
            <a:endParaRPr b="1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Embracing diversity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makes us stronger for differences are opportunities to learn. We work with </a:t>
            </a:r>
            <a:r>
              <a:rPr b="1" i="0" lang="en" sz="800" u="none" cap="none" strike="noStrike">
                <a:solidFill>
                  <a:srgbClr val="66FFFF"/>
                </a:solidFill>
                <a:latin typeface="Calibri"/>
                <a:ea typeface="Calibri"/>
                <a:cs typeface="Calibri"/>
                <a:sym typeface="Calibri"/>
              </a:rPr>
              <a:t>passion to delight customers </a:t>
            </a:r>
            <a:r>
              <a:rPr b="0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and deliver greater success to our stakeholders</a:t>
            </a:r>
            <a:endParaRPr b="0" i="0" sz="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3" name="Google Shape;83;p20"/>
          <p:cNvCxnSpPr/>
          <p:nvPr/>
        </p:nvCxnSpPr>
        <p:spPr>
          <a:xfrm>
            <a:off x="4886324" y="3191142"/>
            <a:ext cx="23085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dash"/>
            <a:miter lim="80"/>
            <a:headEnd len="sm" w="sm" type="none"/>
            <a:tailEnd len="sm" w="sm" type="none"/>
          </a:ln>
        </p:spPr>
      </p:cxnSp>
      <p:cxnSp>
        <p:nvCxnSpPr>
          <p:cNvPr id="84" name="Google Shape;84;p20"/>
          <p:cNvCxnSpPr/>
          <p:nvPr/>
        </p:nvCxnSpPr>
        <p:spPr>
          <a:xfrm>
            <a:off x="5996853" y="2211173"/>
            <a:ext cx="0" cy="21939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dash"/>
            <a:miter lim="80"/>
            <a:headEnd len="sm" w="sm" type="none"/>
            <a:tailEnd len="sm" w="sm" type="none"/>
          </a:ln>
        </p:spPr>
      </p:cxnSp>
      <p:sp>
        <p:nvSpPr>
          <p:cNvPr id="85" name="Google Shape;85;p20"/>
          <p:cNvSpPr txBox="1"/>
          <p:nvPr/>
        </p:nvSpPr>
        <p:spPr>
          <a:xfrm>
            <a:off x="4248872" y="931441"/>
            <a:ext cx="3495900" cy="8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AT TATA MOTORS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are connecting aspirations by being bold in thought and action,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owning every opportunity and challenge, Solving together as one team and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engaging all our stakeholders with empathy.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are </a:t>
            </a: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MORE WHEN ONE!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20"/>
          <p:cNvSpPr txBox="1"/>
          <p:nvPr/>
        </p:nvSpPr>
        <p:spPr>
          <a:xfrm>
            <a:off x="5020696" y="636389"/>
            <a:ext cx="19524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" sz="1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OUR CULTURE CREDO</a:t>
            </a:r>
            <a:endParaRPr b="1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 Line" showMasterSp="0">
  <p:cSld name="Agenda Line"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1"/>
          <p:cNvSpPr txBox="1"/>
          <p:nvPr>
            <p:ph type="title"/>
          </p:nvPr>
        </p:nvSpPr>
        <p:spPr>
          <a:xfrm>
            <a:off x="216000" y="11212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pic>
        <p:nvPicPr>
          <p:cNvPr descr="Image result for tata logo" id="89" name="Google Shape;89;p2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68751" y="122928"/>
            <a:ext cx="601161" cy="551811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12132" y="4935048"/>
            <a:ext cx="1857199" cy="121499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21"/>
          <p:cNvSpPr txBox="1"/>
          <p:nvPr/>
        </p:nvSpPr>
        <p:spPr>
          <a:xfrm>
            <a:off x="8738821" y="4935047"/>
            <a:ext cx="144900" cy="1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b="0" i="0" lang="en" sz="800" u="none" cap="none" strike="noStrik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800" u="none" cap="none" strike="noStrike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94" name="Google Shape;94;p2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95" name="Google Shape;95;p22"/>
          <p:cNvSpPr txBox="1"/>
          <p:nvPr>
            <p:ph idx="12" type="sldNum"/>
          </p:nvPr>
        </p:nvSpPr>
        <p:spPr>
          <a:xfrm>
            <a:off x="8494750" y="4838748"/>
            <a:ext cx="5487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indent="0" lvl="1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indent="0" lvl="2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indent="0" lvl="3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indent="0" lvl="4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indent="0" lvl="5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indent="0" lvl="6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indent="0" lvl="7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indent="0" lvl="8" marL="0" marR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2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216000" y="11212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  <a:defRPr b="1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24000" y="916175"/>
            <a:ext cx="8578800" cy="37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238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048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9845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9845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b="0" i="0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902931" y="4869656"/>
            <a:ext cx="2412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b="0" i="0" sz="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3.png"/><Relationship Id="rId6" Type="http://schemas.openxmlformats.org/officeDocument/2006/relationships/image" Target="../media/image6.png"/><Relationship Id="rId7" Type="http://schemas.openxmlformats.org/officeDocument/2006/relationships/image" Target="../media/image5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Freight Tiger raises $6.5mn led by Mathew Cyriac's Florintree - Freight  Tiger" id="142" name="Google Shape;142;p23"/>
          <p:cNvPicPr preferRelativeResize="0"/>
          <p:nvPr/>
        </p:nvPicPr>
        <p:blipFill rotWithShape="1">
          <a:blip r:embed="rId6">
            <a:alphaModFix/>
          </a:blip>
          <a:srcRect b="11241" l="0" r="21086" t="14115"/>
          <a:stretch/>
        </p:blipFill>
        <p:spPr>
          <a:xfrm>
            <a:off x="8247328" y="65382"/>
            <a:ext cx="821475" cy="3557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3" name="Google Shape;143;p23"/>
          <p:cNvCxnSpPr/>
          <p:nvPr/>
        </p:nvCxnSpPr>
        <p:spPr>
          <a:xfrm>
            <a:off x="242398" y="642473"/>
            <a:ext cx="86166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3"/>
          <p:cNvSpPr txBox="1"/>
          <p:nvPr>
            <p:ph idx="12" type="sldNum"/>
          </p:nvPr>
        </p:nvSpPr>
        <p:spPr>
          <a:xfrm>
            <a:off x="8619964" y="4823621"/>
            <a:ext cx="5481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700"/>
              <a:t>‹#›</a:t>
            </a:fld>
            <a:endParaRPr sz="700"/>
          </a:p>
        </p:txBody>
      </p:sp>
      <p:sp>
        <p:nvSpPr>
          <p:cNvPr id="151" name="Google Shape;151;p23"/>
          <p:cNvSpPr txBox="1"/>
          <p:nvPr/>
        </p:nvSpPr>
        <p:spPr>
          <a:xfrm>
            <a:off x="7182075" y="4905000"/>
            <a:ext cx="16527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D9D9D9"/>
                </a:solidFill>
                <a:latin typeface="Manrope"/>
                <a:ea typeface="Manrope"/>
                <a:cs typeface="Manrope"/>
                <a:sym typeface="Manrope"/>
              </a:rPr>
              <a:t>@FreightTiger confidential</a:t>
            </a:r>
            <a:endParaRPr b="0" i="0" sz="800" u="none" cap="none" strike="noStrike">
              <a:solidFill>
                <a:srgbClr val="D9D9D9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228600" y="155000"/>
            <a:ext cx="79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F3763"/>
                </a:solidFill>
                <a:latin typeface="Manrope"/>
                <a:cs typeface="Manrope"/>
              </a:rPr>
              <a:t>Product &amp; Tech Updates  —  Carrier Matching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28600" y="455000"/>
            <a:ext cx="8300000" cy="2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B7480"/>
                </a:solidFill>
                <a:latin typeface="Manrope"/>
                <a:cs typeface="Manrope"/>
              </a:rPr>
              <a:t>Apr–Jun'26  ·  Q2 Board Review + Monthly TML Review   |   Steady momentum; pedal on inventory quality &amp; demand fulfilment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28600" y="690000"/>
            <a:ext cx="1476000" cy="300000"/>
          </a:xfrm>
          <a:prstGeom prst="roundRect">
            <a:avLst>
              <a:gd name="adj" fmla="val 8000"/>
            </a:avLst>
          </a:prstGeom>
          <a:solidFill>
            <a:srgbClr val="1F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268600" y="690000"/>
            <a:ext cx="1436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PROJECT / GOAL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1728600" y="690000"/>
            <a:ext cx="2596000" cy="300000"/>
          </a:xfrm>
          <a:prstGeom prst="roundRect">
            <a:avLst>
              <a:gd name="adj" fmla="val 8000"/>
            </a:avLst>
          </a:prstGeom>
          <a:solidFill>
            <a:srgbClr val="268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768600" y="690000"/>
            <a:ext cx="2556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APR–JUN DELIVERY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348600" y="690000"/>
            <a:ext cx="2356000" cy="300000"/>
          </a:xfrm>
          <a:prstGeom prst="roundRect">
            <a:avLst>
              <a:gd name="adj" fmla="val 8000"/>
            </a:avLst>
          </a:prstGeom>
          <a:solidFill>
            <a:srgbClr val="3E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4388600" y="690000"/>
            <a:ext cx="23160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TREND  (Apr–Jun'26)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728600" y="690000"/>
            <a:ext cx="2162800" cy="300000"/>
          </a:xfrm>
          <a:prstGeom prst="roundRect">
            <a:avLst>
              <a:gd name="adj" fmla="val 8000"/>
            </a:avLst>
          </a:prstGeom>
          <a:solidFill>
            <a:srgbClr val="604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768600" y="690000"/>
            <a:ext cx="2122800" cy="3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NEXT FOCUS  (Jul–Aug)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228600" y="1030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292600" y="1070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Drive FO App to 2,000 DAU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Better load experience &amp; payment visibility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792600" y="1064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Shipped better load experience &amp; payment visibility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DAU 178 → 252 (+42%); crossed 250/day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MAU 1,027 → 1,325 (+29%); Installs → 1,935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Stickiness 17.3% → 19.0%</a:t>
            </a:r>
          </a:p>
        </p:txBody>
      </p:sp>
      <p:pic>
        <p:nvPicPr>
          <p:cNvPr id="165" name="Picture 164" descr="row1_ap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58492" y="1075000"/>
            <a:ext cx="1560214" cy="648000"/>
          </a:xfrm>
          <a:prstGeom prst="rect">
            <a:avLst/>
          </a:prstGeom>
        </p:spPr>
      </p:pic>
      <p:sp>
        <p:nvSpPr>
          <p:cNvPr id="166" name="TextBox 165"/>
          <p:cNvSpPr txBox="1"/>
          <p:nvPr/>
        </p:nvSpPr>
        <p:spPr>
          <a:xfrm>
            <a:off x="6792600" y="1064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Drive toward 2,000 DAU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Lift WAU → DAU daily habit &amp; retention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Deepen payment visibility + load discovery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28600" y="1784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292600" y="1824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Improve demand fulfilment to 40%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Matching, bid ranges &amp; real-time visibility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792600" y="1818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Matching, bid ranges &amp; live visibility shipped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June rebound — Bids 477 → 725 (+52%)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Placeable fulfilment 17.3% → 24.9%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Unique FO bidders 189 → 267</a:t>
            </a:r>
          </a:p>
        </p:txBody>
      </p:sp>
      <p:pic>
        <p:nvPicPr>
          <p:cNvPr id="170" name="Picture 169" descr="row2_deman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87421" y="1829000"/>
            <a:ext cx="1502357" cy="648000"/>
          </a:xfrm>
          <a:prstGeom prst="rect">
            <a:avLst/>
          </a:prstGeom>
        </p:spPr>
      </p:pic>
      <p:sp>
        <p:nvSpPr>
          <p:cNvPr id="171" name="TextBox 170"/>
          <p:cNvSpPr txBox="1"/>
          <p:nvPr/>
        </p:nvSpPr>
        <p:spPr>
          <a:xfrm>
            <a:off x="6792600" y="1818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Lift placement on inventory &amp; FO bids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Convert bids → trips (Jun dipped to 10)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Push placeable fulfilment toward 40%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228600" y="2538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292600" y="2578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Increase inventory 50% (1,500/mo)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Via automated agentic calling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1792600" y="2572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AI drives ~65% of inventory (869 of 1,341 in Jun)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Agent inv. 728 → 1,043 peak; manual 1,098 → 472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Gap: total inventory &amp; conversion fell 23.9% → 11.4%</a:t>
            </a:r>
          </a:p>
        </p:txBody>
      </p:sp>
      <p:pic>
        <p:nvPicPr>
          <p:cNvPr id="175" name="Picture 174" descr="row3_inventor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87421" y="2583000"/>
            <a:ext cx="1502357" cy="648000"/>
          </a:xfrm>
          <a:prstGeom prst="rect">
            <a:avLst/>
          </a:prstGeom>
        </p:spPr>
      </p:pic>
      <p:sp>
        <p:nvSpPr>
          <p:cNvPr id="176" name="TextBox 175"/>
          <p:cNvSpPr txBox="1"/>
          <p:nvPr/>
        </p:nvSpPr>
        <p:spPr>
          <a:xfrm>
            <a:off x="6792600" y="2572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Inventory quality — best-time-to-call, power-lane proximity, FO filtering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Rebuild placeable conversion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Scale agent inventory to 1,500/mo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228600" y="3292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292600" y="3332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Cost to serve reduction by 70%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Automate ops processes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792600" y="3326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Automated Vahan verification &amp; journey updates in LSP WhatsApp [May]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Agent calls scaled to 16k/mo; ~10 hrs/day CT effort saved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~15% reduction in City Team resource cost</a:t>
            </a:r>
          </a:p>
        </p:txBody>
      </p:sp>
      <p:pic>
        <p:nvPicPr>
          <p:cNvPr id="180" name="Picture 179" descr="row4_cos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80671" y="3337000"/>
            <a:ext cx="1515857" cy="648000"/>
          </a:xfrm>
          <a:prstGeom prst="rect">
            <a:avLst/>
          </a:prstGeom>
        </p:spPr>
      </p:pic>
      <p:sp>
        <p:nvSpPr>
          <p:cNvPr id="181" name="TextBox 180"/>
          <p:cNvSpPr txBox="1"/>
          <p:nvPr/>
        </p:nvSpPr>
        <p:spPr>
          <a:xfrm>
            <a:off x="6792600" y="3326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FO document collection via app payment incentives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AI CT for SIM-consent automation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Transit-delay detection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228600" y="4046000"/>
            <a:ext cx="8686800" cy="7380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292600" y="4086000"/>
            <a:ext cx="1372000" cy="66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F3763"/>
                </a:solidFill>
                <a:latin typeface="Manrope"/>
                <a:cs typeface="Manrope"/>
              </a:rPr>
              <a:t>Ledger automation for compliance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1">
                <a:solidFill>
                  <a:srgbClr val="6B7480"/>
                </a:solidFill>
                <a:latin typeface="Manrope"/>
                <a:cs typeface="Manrope"/>
              </a:rPr>
              <a:t>Trip &amp; party-level ledger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792600" y="4080000"/>
            <a:ext cx="24920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1" i="0">
                <a:solidFill>
                  <a:srgbClr val="26815C"/>
                </a:solidFill>
                <a:latin typeface="Manrope"/>
                <a:cs typeface="Manrope"/>
              </a:rPr>
              <a:t>•  Initiative picked up in June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•  Scoping trip-level &amp; party-level ledger design</a:t>
            </a:r>
          </a:p>
        </p:txBody>
      </p:sp>
      <p:pic>
        <p:nvPicPr>
          <p:cNvPr id="185" name="Picture 184" descr="row5_ledger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08412" y="4091000"/>
            <a:ext cx="2060375" cy="648000"/>
          </a:xfrm>
          <a:prstGeom prst="rect">
            <a:avLst/>
          </a:prstGeom>
        </p:spPr>
      </p:pic>
      <p:sp>
        <p:nvSpPr>
          <p:cNvPr id="186" name="TextBox 185"/>
          <p:cNvSpPr txBox="1"/>
          <p:nvPr/>
        </p:nvSpPr>
        <p:spPr>
          <a:xfrm>
            <a:off x="6792600" y="4080000"/>
            <a:ext cx="2058800" cy="67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6043A3"/>
                </a:solidFill>
                <a:latin typeface="Manrope"/>
                <a:cs typeface="Manrope"/>
              </a:rPr>
              <a:t>›  Build trip-level &amp; party-level ledgers</a:t>
            </a:r>
          </a:p>
          <a:p>
            <a:pPr algn="l" indent="-137160" marL="137160">
              <a:lnSpc>
                <a:spcPct val="102000"/>
              </a:lnSpc>
              <a:spcBef>
                <a:spcPts val="0"/>
              </a:spcBef>
              <a:spcAft>
                <a:spcPts val="25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›  Wallet-based auto-reconciliation across trips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7" name="Google Shape;157;p24"/>
          <p:cNvGraphicFramePr/>
          <p:nvPr/>
        </p:nvGraphicFramePr>
        <p:xfrm>
          <a:off x="242400" y="64328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{EEE02122-0968-4535-85BE-7FB82C2E50CA}</a:tableStyleId>
              </a:tblPr>
              <a:tblGrid>
                <a:gridCol w="1159675"/>
                <a:gridCol w="1833825"/>
                <a:gridCol w="849825"/>
                <a:gridCol w="802275"/>
                <a:gridCol w="3971000"/>
              </a:tblGrid>
              <a:tr h="286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Customer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Stage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7150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ETA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7150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MRR 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(INR Lacs)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7150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b="1"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Comments</a:t>
                      </a:r>
                      <a:endParaRPr b="1"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0" marB="0" marR="715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  <a:solidFill>
                      <a:srgbClr val="FFD966"/>
                    </a:solidFill>
                  </a:tcPr>
                </a:tc>
              </a:tr>
              <a:tr h="3306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Novoco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Live 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May 4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8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-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7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Pidilite Phase 1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Live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       May 7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-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Existing customer, no additional MRR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4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MSP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Live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sng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Apr 25</a:t>
                      </a:r>
                      <a:endParaRPr sz="1000" u="none" cap="none" strike="sng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May 22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0.5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-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4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Pittie Group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Dev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TBD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3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Client development is in progress. Awaiting development completion timelines from the client to finalize the go-live date.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082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TCPL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Dev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sng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May 15</a:t>
                      </a:r>
                      <a:endParaRPr sz="1000" u="none" cap="none" strike="sng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June 15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3.5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Timeline shifted due to expanded scope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649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Diageo Phase 1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UAT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Jun 29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UAT 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Tata Bluescope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Partially Live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NA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2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 Live with 8 locations. 1 plant go live pending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Kajaria Ceramics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Kick Off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TBD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2.7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The project kick-off initiated on 5th June,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6350" marB="0" marR="0" marL="3657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JSW Steel plant addition 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 anchor="ctr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solidFill>
                            <a:schemeClr val="dk1"/>
                          </a:solidFill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Kick Off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TBD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t/>
                      </a:r>
                      <a:endParaRPr sz="1000" u="none" cap="none" strike="sng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1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New Plants addition via Integration we got approval from JSW Management Kickoff call with JSW IT is scheduled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81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BASF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Dev in progress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Aug 18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5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" sz="1000" u="none" cap="none" strike="noStrike">
                          <a:latin typeface="Manrope"/>
                          <a:ea typeface="Manrope"/>
                          <a:cs typeface="Manrope"/>
                          <a:sym typeface="Manrope"/>
                        </a:rPr>
                        <a:t>Solutioning and dev running in parallel</a:t>
                      </a:r>
                      <a:endParaRPr sz="1000" u="none" cap="none" strike="noStrike"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a:txBody>
                  <a:tcPr marT="91425" marB="91425" marR="91425" marL="36575">
                    <a:lnL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2"/>
                      </a:solidFill>
                      <a:prstDash val="dot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F7F7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descr="Freight Tiger raises $6.5mn led by Mathew Cyriac's Florintree - Freight  Tiger" id="158" name="Google Shape;158;p24"/>
          <p:cNvPicPr preferRelativeResize="0"/>
          <p:nvPr/>
        </p:nvPicPr>
        <p:blipFill rotWithShape="1">
          <a:blip r:embed="rId3">
            <a:alphaModFix/>
          </a:blip>
          <a:srcRect b="11241" l="0" r="21086" t="14115"/>
          <a:stretch/>
        </p:blipFill>
        <p:spPr>
          <a:xfrm>
            <a:off x="8247328" y="65382"/>
            <a:ext cx="821475" cy="3557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9" name="Google Shape;159;p24"/>
          <p:cNvCxnSpPr/>
          <p:nvPr/>
        </p:nvCxnSpPr>
        <p:spPr>
          <a:xfrm>
            <a:off x="242398" y="642473"/>
            <a:ext cx="86166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0" name="Google Shape;160;p24"/>
          <p:cNvSpPr txBox="1"/>
          <p:nvPr>
            <p:ph type="title"/>
          </p:nvPr>
        </p:nvSpPr>
        <p:spPr>
          <a:xfrm>
            <a:off x="190600" y="201334"/>
            <a:ext cx="77352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322"/>
              <a:buFont typeface="Calibri"/>
              <a:buNone/>
            </a:pPr>
            <a:r>
              <a:rPr lang="en" sz="1700">
                <a:latin typeface="Manrope"/>
                <a:ea typeface="Manrope"/>
                <a:cs typeface="Manrope"/>
                <a:sym typeface="Manrope"/>
              </a:rPr>
              <a:t>Customer Integrations</a:t>
            </a:r>
            <a:endParaRPr sz="1700">
              <a:solidFill>
                <a:srgbClr val="980000"/>
              </a:solidFill>
              <a:latin typeface="Manrope"/>
              <a:ea typeface="Manrope"/>
              <a:cs typeface="Manrope"/>
              <a:sym typeface="Manrope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322"/>
              <a:buFont typeface="Calibri"/>
              <a:buNone/>
            </a:pPr>
            <a:r>
              <a:rPr b="0" lang="en" sz="1200">
                <a:latin typeface="Manrope"/>
                <a:ea typeface="Manrope"/>
                <a:cs typeface="Manrope"/>
                <a:sym typeface="Manrope"/>
              </a:rPr>
              <a:t>In progress integrations and their current statuses</a:t>
            </a:r>
            <a:endParaRPr sz="1200"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61" name="Google Shape;161;p24"/>
          <p:cNvSpPr txBox="1"/>
          <p:nvPr/>
        </p:nvSpPr>
        <p:spPr>
          <a:xfrm>
            <a:off x="7182075" y="4905000"/>
            <a:ext cx="1652700" cy="1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D9D9D9"/>
                </a:solidFill>
                <a:latin typeface="Manrope"/>
                <a:ea typeface="Manrope"/>
                <a:cs typeface="Manrope"/>
                <a:sym typeface="Manrope"/>
              </a:rPr>
              <a:t>@FreightTiger confidential</a:t>
            </a:r>
            <a:endParaRPr b="0" i="0" sz="800" u="none" cap="none" strike="noStrike">
              <a:solidFill>
                <a:srgbClr val="D9D9D9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62" name="Google Shape;162;p24"/>
          <p:cNvSpPr txBox="1"/>
          <p:nvPr/>
        </p:nvSpPr>
        <p:spPr>
          <a:xfrm>
            <a:off x="4957011" y="41638"/>
            <a:ext cx="3537300" cy="30780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Product/Tech team to update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" y="150000"/>
            <a:ext cx="79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F3763"/>
                </a:solidFill>
                <a:latin typeface="Manrope"/>
                <a:cs typeface="Manrope"/>
              </a:rPr>
              <a:t>Key Challenges — Scaling the Initiatives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" y="458000"/>
            <a:ext cx="868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B7480"/>
                </a:solidFill>
                <a:latin typeface="Manrope"/>
                <a:cs typeface="Manrope"/>
              </a:rPr>
              <a:t>System-generated supply is actioned last — CRM inventory, FO App bids &amp; bot demands need priority &amp; SLA decisions from leadership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42398" y="662000"/>
            <a:ext cx="8616600" cy="0"/>
          </a:xfrm>
          <a:prstGeom prst="line">
            <a:avLst/>
          </a:prstGeom>
          <a:ln w="12700">
            <a:solidFill>
              <a:srgbClr val="D5DA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328" y="65382"/>
            <a:ext cx="821475" cy="3557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82075" y="4905000"/>
            <a:ext cx="16527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B8BEC6"/>
                </a:solidFill>
                <a:latin typeface="Manrope"/>
                <a:cs typeface="Manrope"/>
              </a:rPr>
              <a:t>@FreightTiger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706000"/>
            <a:ext cx="1726000" cy="286000"/>
          </a:xfrm>
          <a:prstGeom prst="roundRect">
            <a:avLst>
              <a:gd name="adj" fmla="val 9000"/>
            </a:avLst>
          </a:prstGeom>
          <a:solidFill>
            <a:srgbClr val="1F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600" y="706000"/>
            <a:ext cx="1680000" cy="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CHALLENGE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78600" y="706000"/>
            <a:ext cx="3836000" cy="286000"/>
          </a:xfrm>
          <a:prstGeom prst="roundRect">
            <a:avLst>
              <a:gd name="adj" fmla="val 9000"/>
            </a:avLst>
          </a:prstGeom>
          <a:solidFill>
            <a:srgbClr val="3E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24600" y="706000"/>
            <a:ext cx="3790000" cy="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CONTEXT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38600" y="706000"/>
            <a:ext cx="3052800" cy="286000"/>
          </a:xfrm>
          <a:prstGeom prst="roundRect">
            <a:avLst>
              <a:gd name="adj" fmla="val 9000"/>
            </a:avLst>
          </a:prstGeom>
          <a:solidFill>
            <a:srgbClr val="604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84600" y="706000"/>
            <a:ext cx="3006800" cy="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Manrope"/>
                <a:cs typeface="Manrope"/>
              </a:rPr>
              <a:t>KEY QUESTIONS FOR LEADERSHIP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" y="1040000"/>
            <a:ext cx="8686800" cy="1225000"/>
          </a:xfrm>
          <a:prstGeom prst="roundRect">
            <a:avLst>
              <a:gd name="adj" fmla="val 9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600" y="1080000"/>
            <a:ext cx="1650000" cy="115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3763"/>
                </a:solidFill>
                <a:latin typeface="Manrope"/>
                <a:cs typeface="Manrope"/>
              </a:rPr>
              <a:t>1   </a:t>
            </a:r>
            <a:r>
              <a:rPr sz="1000" b="1" i="0">
                <a:solidFill>
                  <a:srgbClr val="1F3763"/>
                </a:solidFill>
                <a:latin typeface="Manrope"/>
                <a:cs typeface="Manrope"/>
              </a:rPr>
              <a:t>CRM inventory prioritisation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6B7480"/>
                </a:solidFill>
                <a:latin typeface="Manrope"/>
                <a:cs typeface="Manrope"/>
              </a:rPr>
              <a:t>How should CRM-generated inventory be prioritised?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42600" y="1074000"/>
            <a:ext cx="3740000" cy="11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~1,300 CRM inventories/month (incl. ~800 Power-Lane), but conversions stay under 50/month. The fulfilment team clears its own + central-team inventory first; by the time it reaches system-generated CRM inventory, the load is usually already placed externally (CRM inventory is collected in the morning).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2600" y="1074000"/>
            <a:ext cx="2966800" cy="11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50000" marL="150000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860" b="1" i="0">
                <a:solidFill>
                  <a:srgbClr val="6043A3"/>
                </a:solidFill>
                <a:latin typeface="Manrope"/>
                <a:cs typeface="Manrope"/>
              </a:rPr>
              <a:t>›  </a:t>
            </a: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Should CRM inventory get equal priority in the workflow, not the last source?</a:t>
            </a:r>
          </a:p>
          <a:p>
            <a:pPr algn="l" indent="-150000" marL="150000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860" b="1" i="0">
                <a:solidFill>
                  <a:srgbClr val="6043A3"/>
                </a:solidFill>
                <a:latin typeface="Manrope"/>
                <a:cs typeface="Manrope"/>
              </a:rPr>
              <a:t>›  </a:t>
            </a: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What SLA / process ensures it is actioned before the demand is fulfilled elsewhere?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8600" y="2287000"/>
            <a:ext cx="8686800" cy="1225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8600" y="2327000"/>
            <a:ext cx="1650000" cy="115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3763"/>
                </a:solidFill>
                <a:latin typeface="Manrope"/>
                <a:cs typeface="Manrope"/>
              </a:rPr>
              <a:t>2   </a:t>
            </a:r>
            <a:r>
              <a:rPr sz="1000" b="1" i="0">
                <a:solidFill>
                  <a:srgbClr val="1F3763"/>
                </a:solidFill>
                <a:latin typeface="Manrope"/>
                <a:cs typeface="Manrope"/>
              </a:rPr>
              <a:t>FO App bids not acted upon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6B7480"/>
                </a:solidFill>
                <a:latin typeface="Manrope"/>
                <a:cs typeface="Manrope"/>
              </a:rPr>
              <a:t>Why are FO App bids not being acted upon?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42600" y="2321000"/>
            <a:ext cx="3740000" cy="11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We receive 30–55 FO App bids/day, but only 1–2 are converted — and 0 conversions in the last week. As with CRM inventory, the team focuses on manual + central inventory first; by the time app bids are reviewed, the demands have often already been fulfilled.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02600" y="2321000"/>
            <a:ext cx="2966800" cy="11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50000" marL="150000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860" b="1" i="0">
                <a:solidFill>
                  <a:srgbClr val="6043A3"/>
                </a:solidFill>
                <a:latin typeface="Manrope"/>
                <a:cs typeface="Manrope"/>
              </a:rPr>
              <a:t>›  </a:t>
            </a: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Should FO App bids have a defined response SLA / priority, so they are reviewed before demand is fulfilled through other channels?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8600" y="3534000"/>
            <a:ext cx="8686800" cy="1225000"/>
          </a:xfrm>
          <a:prstGeom prst="roundRect">
            <a:avLst>
              <a:gd name="adj" fmla="val 9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8600" y="3574000"/>
            <a:ext cx="1650000" cy="115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F3763"/>
                </a:solidFill>
                <a:latin typeface="Manrope"/>
                <a:cs typeface="Manrope"/>
              </a:rPr>
              <a:t>3   </a:t>
            </a:r>
            <a:r>
              <a:rPr sz="1000" b="1" i="0">
                <a:solidFill>
                  <a:srgbClr val="1F3763"/>
                </a:solidFill>
                <a:latin typeface="Manrope"/>
                <a:cs typeface="Manrope"/>
              </a:rPr>
              <a:t>Bot-created demand actionability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6B7480"/>
                </a:solidFill>
                <a:latin typeface="Manrope"/>
                <a:cs typeface="Manrope"/>
              </a:rPr>
              <a:t>Why is there low actionability on bot-created demands?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42600" y="3568000"/>
            <a:ext cx="3740000" cy="11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On power lanes, manually-created demands convert at 18% vs only 3% for bot-created demands. Bot-created demand is clearly not getting priority, while the team continues to focus on manually-created demands.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600" y="3568000"/>
            <a:ext cx="2966800" cy="11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 indent="-150000" marL="150000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860" b="1" i="0">
                <a:solidFill>
                  <a:srgbClr val="6043A3"/>
                </a:solidFill>
                <a:latin typeface="Manrope"/>
                <a:cs typeface="Manrope"/>
              </a:rPr>
              <a:t>›  </a:t>
            </a: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Should bot-created demands sit in the primary fulfilment queue, not a secondary source?</a:t>
            </a:r>
          </a:p>
          <a:p>
            <a:pPr algn="l" indent="-150000" marL="150000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860" b="1" i="0">
                <a:solidFill>
                  <a:srgbClr val="6043A3"/>
                </a:solidFill>
                <a:latin typeface="Manrope"/>
                <a:cs typeface="Manrope"/>
              </a:rPr>
              <a:t>›  </a:t>
            </a:r>
            <a:r>
              <a:rPr sz="840" b="0" i="0">
                <a:solidFill>
                  <a:srgbClr val="25303B"/>
                </a:solidFill>
                <a:latin typeface="Manrope"/>
                <a:cs typeface="Manrope"/>
              </a:rPr>
              <a:t>What business-process changes ensure bot demands are acted on before they go stale?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" y="150000"/>
            <a:ext cx="7900000" cy="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F3763"/>
                </a:solidFill>
                <a:latin typeface="Manrope"/>
                <a:cs typeface="Manrope"/>
              </a:rPr>
              <a:t>3-Month Execution Plan — Carrier Matching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" y="458000"/>
            <a:ext cx="868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B7480"/>
                </a:solidFill>
                <a:latin typeface="Manrope"/>
                <a:cs typeface="Manrope"/>
              </a:rPr>
              <a:t>Scale revenue to ₹1.2 Cr/month by Sept · cut cost base 50%    |    Q2 exit: DAU → 500 · conversion → 20% · MS+FinOps −30%   (25% / 50% = FY27)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42398" y="662000"/>
            <a:ext cx="8616600" cy="0"/>
          </a:xfrm>
          <a:prstGeom prst="line">
            <a:avLst/>
          </a:prstGeom>
          <a:ln w="12700">
            <a:solidFill>
              <a:srgbClr val="D5DA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328" y="65382"/>
            <a:ext cx="821475" cy="3557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82075" y="4905000"/>
            <a:ext cx="16527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 i="0">
                <a:solidFill>
                  <a:srgbClr val="B8BEC6"/>
                </a:solidFill>
                <a:latin typeface="Manrope"/>
                <a:cs typeface="Manrope"/>
              </a:rPr>
              <a:t>@FreightTiger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" y="726000"/>
            <a:ext cx="150000" cy="150000"/>
          </a:xfrm>
          <a:prstGeom prst="roundRect">
            <a:avLst>
              <a:gd name="adj" fmla="val 30000"/>
            </a:avLst>
          </a:prstGeom>
          <a:solidFill>
            <a:srgbClr val="1F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3600" y="712000"/>
            <a:ext cx="1900000" cy="1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1F3763"/>
                </a:solidFill>
                <a:latin typeface="Manrope"/>
                <a:cs typeface="Manrope"/>
              </a:rPr>
              <a:t>Ledger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600" y="726000"/>
            <a:ext cx="150000" cy="150000"/>
          </a:xfrm>
          <a:prstGeom prst="roundRect">
            <a:avLst>
              <a:gd name="adj" fmla="val 30000"/>
            </a:avLst>
          </a:prstGeom>
          <a:solidFill>
            <a:srgbClr val="2681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0600" y="712000"/>
            <a:ext cx="1900000" cy="1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26815C"/>
                </a:solidFill>
                <a:latin typeface="Manrope"/>
                <a:cs typeface="Manrope"/>
              </a:rPr>
              <a:t>Fulfilment 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4600" y="726000"/>
            <a:ext cx="150000" cy="150000"/>
          </a:xfrm>
          <a:prstGeom prst="roundRect">
            <a:avLst>
              <a:gd name="adj" fmla="val 30000"/>
            </a:avLst>
          </a:prstGeom>
          <a:solidFill>
            <a:srgbClr val="604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9600" y="712000"/>
            <a:ext cx="1900000" cy="1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6043A3"/>
                </a:solidFill>
                <a:latin typeface="Manrope"/>
                <a:cs typeface="Manrope"/>
              </a:rPr>
              <a:t>DAU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30600" y="726000"/>
            <a:ext cx="150000" cy="150000"/>
          </a:xfrm>
          <a:prstGeom prst="roundRect">
            <a:avLst>
              <a:gd name="adj" fmla="val 30000"/>
            </a:avLst>
          </a:prstGeom>
          <a:solidFill>
            <a:srgbClr val="C77D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15600" y="712000"/>
            <a:ext cx="1900000" cy="1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C77D0A"/>
                </a:solidFill>
                <a:latin typeface="Manrope"/>
                <a:cs typeface="Manrope"/>
              </a:rPr>
              <a:t>Reduce Ops Bandwidth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0000" y="712000"/>
            <a:ext cx="3665400" cy="1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3E4C63"/>
                </a:solidFill>
                <a:latin typeface="Manrope"/>
                <a:cs typeface="Manrope"/>
              </a:rPr>
              <a:t>Network-lane conversion:  </a:t>
            </a: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Apr 13.7% → May 11.2% → Jun 17.1%  →  Q2 exit 20%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" y="966000"/>
            <a:ext cx="2864933" cy="2854000"/>
          </a:xfrm>
          <a:prstGeom prst="roundRect">
            <a:avLst>
              <a:gd name="adj" fmla="val 9000"/>
            </a:avLst>
          </a:prstGeom>
          <a:solidFill>
            <a:srgbClr val="F7F8FA"/>
          </a:solidFill>
          <a:ln w="6350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8600" y="966000"/>
            <a:ext cx="2864933" cy="250000"/>
          </a:xfrm>
          <a:prstGeom prst="roundRect">
            <a:avLst>
              <a:gd name="adj" fmla="val 9000"/>
            </a:avLst>
          </a:prstGeom>
          <a:solidFill>
            <a:srgbClr val="3E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8600" y="966000"/>
            <a:ext cx="2774933" cy="2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Manrope"/>
                <a:cs typeface="Manrope"/>
              </a:rPr>
              <a:t>JULY   </a:t>
            </a:r>
            <a:r>
              <a:rPr sz="850" b="1" i="0">
                <a:solidFill>
                  <a:srgbClr val="C5CCD6"/>
                </a:solidFill>
                <a:latin typeface="Manrope"/>
                <a:cs typeface="Manrope"/>
              </a:rPr>
              <a:t>(12)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0" y="1272000"/>
            <a:ext cx="2754933" cy="25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10000" marL="110000">
              <a:lnSpc>
                <a:spcPct val="102000"/>
              </a:lnSpc>
              <a:spcBef>
                <a:spcPts val="0"/>
              </a:spcBef>
              <a:spcAft>
                <a:spcPts val="320"/>
              </a:spcAft>
            </a:pPr>
            <a:r>
              <a:rPr sz="700" b="0" i="0">
                <a:solidFill>
                  <a:srgbClr val="1F3763"/>
                </a:solidFill>
                <a:latin typeface="Manrope"/>
                <a:cs typeface="Manrope"/>
              </a:rPr>
              <a:t>● </a:t>
            </a:r>
            <a:r>
              <a:rPr sz="720" b="1" i="0">
                <a:solidFill>
                  <a:srgbClr val="25303B"/>
                </a:solidFill>
                <a:latin typeface="Manrope"/>
                <a:cs typeface="Manrope"/>
              </a:rPr>
              <a:t>CM-723  </a:t>
            </a:r>
            <a:r>
              <a:rPr sz="720" b="0" i="0">
                <a:solidFill>
                  <a:srgbClr val="25303B"/>
                </a:solidFill>
                <a:latin typeface="Manrope"/>
                <a:cs typeface="Manrope"/>
              </a:rPr>
              <a:t>Immutable trip-level payment record (Net Payable/Receivable)  </a:t>
            </a:r>
            <a:r>
              <a:rPr sz="640" b="1" i="1">
                <a:solidFill>
                  <a:srgbClr val="1F3763"/>
                </a:solidFill>
                <a:latin typeface="Manrope"/>
                <a:cs typeface="Manrope"/>
              </a:rPr>
              <a:t>In Dev</a:t>
            </a:r>
          </a:p>
          <a:p>
            <a:pPr algn="l" indent="-110000" marL="110000">
              <a:lnSpc>
                <a:spcPct val="102000"/>
              </a:lnSpc>
              <a:spcBef>
                <a:spcPts val="0"/>
              </a:spcBef>
              <a:spcAft>
                <a:spcPts val="320"/>
              </a:spcAft>
            </a:pPr>
            <a:r>
              <a:rPr sz="700" b="0" i="0">
                <a:solidFill>
                  <a:srgbClr val="1F3763"/>
                </a:solidFill>
                <a:latin typeface="Manrope"/>
                <a:cs typeface="Manrope"/>
              </a:rPr>
              <a:t>● </a:t>
            </a:r>
            <a:r>
              <a:rPr sz="720" b="1" i="0">
                <a:solidFill>
                  <a:srgbClr val="25303B"/>
                </a:solidFill>
                <a:latin typeface="Manrope"/>
                <a:cs typeface="Manrope"/>
              </a:rPr>
              <a:t>CM-722  </a:t>
            </a:r>
            <a:r>
              <a:rPr sz="720" b="0" i="0">
                <a:solidFill>
                  <a:srgbClr val="25303B"/>
                </a:solidFill>
                <a:latin typeface="Manrope"/>
                <a:cs typeface="Manrope"/>
              </a:rPr>
              <a:t>Overpayment settlement via FO/LSP wallets  </a:t>
            </a:r>
            <a:r>
              <a:rPr sz="640" b="1" i="1">
                <a:solidFill>
                  <a:srgbClr val="1F3763"/>
                </a:solidFill>
                <a:latin typeface="Manrope"/>
                <a:cs typeface="Manrope"/>
              </a:rPr>
              <a:t>In Dev</a:t>
            </a:r>
          </a:p>
          <a:p>
            <a:pPr algn="l" indent="-110000" marL="110000">
              <a:lnSpc>
                <a:spcPct val="102000"/>
              </a:lnSpc>
              <a:spcBef>
                <a:spcPts val="0"/>
              </a:spcBef>
              <a:spcAft>
                <a:spcPts val="320"/>
              </a:spcAft>
            </a:pPr>
            <a:r>
              <a:rPr sz="700" b="0" i="0">
                <a:solidFill>
                  <a:srgbClr val="1F3763"/>
                </a:solidFill>
                <a:latin typeface="Manrope"/>
                <a:cs typeface="Manrope"/>
              </a:rPr>
              <a:t>● </a:t>
            </a:r>
            <a:r>
              <a:rPr sz="720" b="1" i="0">
                <a:solidFill>
                  <a:srgbClr val="25303B"/>
                </a:solidFill>
                <a:latin typeface="Manrope"/>
                <a:cs typeface="Manrope"/>
              </a:rPr>
              <a:t>CM-734  </a:t>
            </a:r>
            <a:r>
              <a:rPr sz="720" b="0" i="0">
                <a:solidFill>
                  <a:srgbClr val="25303B"/>
                </a:solidFill>
                <a:latin typeface="Manrope"/>
                <a:cs typeface="Manrope"/>
              </a:rPr>
              <a:t>Capture TDS details in CRM (Supplier KYC)  </a:t>
            </a:r>
            <a:r>
              <a:rPr sz="640" b="1" i="1">
                <a:solidFill>
                  <a:srgbClr val="1F3763"/>
                </a:solidFill>
                <a:latin typeface="Manrope"/>
                <a:cs typeface="Manrope"/>
              </a:rPr>
              <a:t>In Dev</a:t>
            </a:r>
          </a:p>
          <a:p>
            <a:pPr algn="l" indent="-110000" marL="110000">
              <a:lnSpc>
                <a:spcPct val="102000"/>
              </a:lnSpc>
              <a:spcBef>
                <a:spcPts val="0"/>
              </a:spcBef>
              <a:spcAft>
                <a:spcPts val="320"/>
              </a:spcAft>
            </a:pPr>
            <a:r>
              <a:rPr sz="700" b="0" i="0">
                <a:solidFill>
                  <a:srgbClr val="1F3763"/>
                </a:solidFill>
                <a:latin typeface="Manrope"/>
                <a:cs typeface="Manrope"/>
              </a:rPr>
              <a:t>● </a:t>
            </a:r>
            <a:r>
              <a:rPr sz="720" b="1" i="0">
                <a:solidFill>
                  <a:srgbClr val="25303B"/>
                </a:solidFill>
                <a:latin typeface="Manrope"/>
                <a:cs typeface="Manrope"/>
              </a:rPr>
              <a:t>CM-735  </a:t>
            </a:r>
            <a:r>
              <a:rPr sz="720" b="0" i="0">
                <a:solidFill>
                  <a:srgbClr val="25303B"/>
                </a:solidFill>
                <a:latin typeface="Manrope"/>
                <a:cs typeface="Manrope"/>
              </a:rPr>
              <a:t>Auto-calculate TDS for new &amp; active trips  </a:t>
            </a:r>
            <a:r>
              <a:rPr sz="640" b="1" i="1">
                <a:solidFill>
                  <a:srgbClr val="1F3763"/>
                </a:solidFill>
                <a:latin typeface="Manrope"/>
                <a:cs typeface="Manrope"/>
              </a:rPr>
              <a:t>In Dev</a:t>
            </a:r>
          </a:p>
          <a:p>
            <a:pPr algn="l" indent="-110000" marL="110000">
              <a:lnSpc>
                <a:spcPct val="102000"/>
              </a:lnSpc>
              <a:spcBef>
                <a:spcPts val="0"/>
              </a:spcBef>
              <a:spcAft>
                <a:spcPts val="320"/>
              </a:spcAft>
            </a:pPr>
            <a:r>
              <a:rPr sz="700" b="0" i="0">
                <a:solidFill>
                  <a:srgbClr val="1F3763"/>
                </a:solidFill>
                <a:latin typeface="Manrope"/>
                <a:cs typeface="Manrope"/>
              </a:rPr>
              <a:t>● </a:t>
            </a:r>
            <a:r>
              <a:rPr sz="720" b="1" i="0">
                <a:solidFill>
                  <a:srgbClr val="25303B"/>
                </a:solidFill>
                <a:latin typeface="Manrope"/>
                <a:cs typeface="Manrope"/>
              </a:rPr>
              <a:t>CM-746  </a:t>
            </a:r>
            <a:r>
              <a:rPr sz="720" b="0" i="0">
                <a:solidFill>
                  <a:srgbClr val="25303B"/>
                </a:solidFill>
                <a:latin typeface="Manrope"/>
                <a:cs typeface="Manrope"/>
              </a:rPr>
              <a:t>Recalculate/reverse TDS on mid-month declaration change  </a:t>
            </a:r>
            <a:r>
              <a:rPr sz="640" b="1" i="1">
                <a:solidFill>
                  <a:srgbClr val="6043A3"/>
                </a:solidFill>
                <a:latin typeface="Manrope"/>
                <a:cs typeface="Manrope"/>
              </a:rPr>
              <a:t>Prioritised</a:t>
            </a:r>
          </a:p>
          <a:p>
            <a:pPr algn="l" indent="-110000" marL="110000">
              <a:lnSpc>
                <a:spcPct val="102000"/>
              </a:lnSpc>
              <a:spcBef>
                <a:spcPts val="0"/>
              </a:spcBef>
              <a:spcAft>
                <a:spcPts val="320"/>
              </a:spcAft>
            </a:pPr>
            <a:r>
              <a:rPr sz="700" b="0" i="0">
                <a:solidFill>
                  <a:srgbClr val="26815C"/>
                </a:solidFill>
                <a:latin typeface="Manrope"/>
                <a:cs typeface="Manrope"/>
              </a:rPr>
              <a:t>● </a:t>
            </a:r>
            <a:r>
              <a:rPr sz="720" b="1" i="0">
                <a:solidFill>
                  <a:srgbClr val="25303B"/>
                </a:solidFill>
                <a:latin typeface="Manrope"/>
                <a:cs typeface="Manrope"/>
              </a:rPr>
              <a:t>CM-682  </a:t>
            </a:r>
            <a:r>
              <a:rPr sz="720" b="0" i="0">
                <a:solidFill>
                  <a:srgbClr val="25303B"/>
                </a:solidFill>
                <a:latin typeface="Manrope"/>
                <a:cs typeface="Manrope"/>
              </a:rPr>
              <a:t>Map agents to lanes for demand auto-assignment  </a:t>
            </a:r>
            <a:r>
              <a:rPr sz="640" b="1" i="1">
                <a:solidFill>
                  <a:srgbClr val="6043A3"/>
                </a:solidFill>
                <a:latin typeface="Manrope"/>
                <a:cs typeface="Manrope"/>
              </a:rPr>
              <a:t>Prioritised</a:t>
            </a:r>
          </a:p>
          <a:p>
            <a:pPr algn="l" indent="-110000" marL="110000">
              <a:lnSpc>
                <a:spcPct val="102000"/>
              </a:lnSpc>
              <a:spcBef>
                <a:spcPts val="0"/>
              </a:spcBef>
              <a:spcAft>
                <a:spcPts val="320"/>
              </a:spcAft>
            </a:pPr>
            <a:r>
              <a:rPr sz="700" b="0" i="0">
                <a:solidFill>
                  <a:srgbClr val="26815C"/>
                </a:solidFill>
                <a:latin typeface="Manrope"/>
                <a:cs typeface="Manrope"/>
              </a:rPr>
              <a:t>● </a:t>
            </a:r>
            <a:r>
              <a:rPr sz="720" b="1" i="0">
                <a:solidFill>
                  <a:srgbClr val="25303B"/>
                </a:solidFill>
                <a:latin typeface="Manrope"/>
                <a:cs typeface="Manrope"/>
              </a:rPr>
              <a:t>CM-731  </a:t>
            </a:r>
            <a:r>
              <a:rPr sz="720" b="0" i="0">
                <a:solidFill>
                  <a:srgbClr val="25303B"/>
                </a:solidFill>
                <a:latin typeface="Manrope"/>
                <a:cs typeface="Manrope"/>
              </a:rPr>
              <a:t>Demand Bot: batch message context building  </a:t>
            </a:r>
            <a:r>
              <a:rPr sz="640" b="1" i="1">
                <a:solidFill>
                  <a:srgbClr val="6043A3"/>
                </a:solidFill>
                <a:latin typeface="Manrope"/>
                <a:cs typeface="Manrope"/>
              </a:rPr>
              <a:t>Prioritised</a:t>
            </a:r>
          </a:p>
          <a:p>
            <a:pPr algn="l" indent="-110000" marL="110000">
              <a:lnSpc>
                <a:spcPct val="102000"/>
              </a:lnSpc>
              <a:spcBef>
                <a:spcPts val="0"/>
              </a:spcBef>
              <a:spcAft>
                <a:spcPts val="320"/>
              </a:spcAft>
            </a:pPr>
            <a:r>
              <a:rPr sz="700" b="0" i="0">
                <a:solidFill>
                  <a:srgbClr val="26815C"/>
                </a:solidFill>
                <a:latin typeface="Manrope"/>
                <a:cs typeface="Manrope"/>
              </a:rPr>
              <a:t>● </a:t>
            </a:r>
            <a:r>
              <a:rPr sz="720" b="1" i="0">
                <a:solidFill>
                  <a:srgbClr val="25303B"/>
                </a:solidFill>
                <a:latin typeface="Manrope"/>
                <a:cs typeface="Manrope"/>
              </a:rPr>
              <a:t>CM-739  </a:t>
            </a:r>
            <a:r>
              <a:rPr sz="720" b="0" i="0">
                <a:solidFill>
                  <a:srgbClr val="25303B"/>
                </a:solidFill>
                <a:latin typeface="Manrope"/>
                <a:cs typeface="Manrope"/>
              </a:rPr>
              <a:t>Near-match inventory logic + match quality on demand list  </a:t>
            </a:r>
            <a:r>
              <a:rPr sz="640" b="1" i="1">
                <a:solidFill>
                  <a:srgbClr val="26815C"/>
                </a:solidFill>
                <a:latin typeface="Manrope"/>
                <a:cs typeface="Manrope"/>
              </a:rPr>
              <a:t>Done</a:t>
            </a:r>
          </a:p>
          <a:p>
            <a:pPr algn="l" indent="-110000" marL="110000">
              <a:lnSpc>
                <a:spcPct val="102000"/>
              </a:lnSpc>
              <a:spcBef>
                <a:spcPts val="0"/>
              </a:spcBef>
              <a:spcAft>
                <a:spcPts val="320"/>
              </a:spcAft>
            </a:pPr>
            <a:r>
              <a:rPr sz="700" b="0" i="0">
                <a:solidFill>
                  <a:srgbClr val="6043A3"/>
                </a:solidFill>
                <a:latin typeface="Manrope"/>
                <a:cs typeface="Manrope"/>
              </a:rPr>
              <a:t>● </a:t>
            </a:r>
            <a:r>
              <a:rPr sz="720" b="1" i="0">
                <a:solidFill>
                  <a:srgbClr val="25303B"/>
                </a:solidFill>
                <a:latin typeface="Manrope"/>
                <a:cs typeface="Manrope"/>
              </a:rPr>
              <a:t>CM-819  </a:t>
            </a:r>
            <a:r>
              <a:rPr sz="720" b="0" i="0">
                <a:solidFill>
                  <a:srgbClr val="25303B"/>
                </a:solidFill>
                <a:latin typeface="Manrope"/>
                <a:cs typeface="Manrope"/>
              </a:rPr>
              <a:t>FO App: reach PSA directly for placement (show PSA number)  </a:t>
            </a:r>
            <a:r>
              <a:rPr sz="640" b="1" i="1">
                <a:solidFill>
                  <a:srgbClr val="6043A3"/>
                </a:solidFill>
                <a:latin typeface="Manrope"/>
                <a:cs typeface="Manrope"/>
              </a:rPr>
              <a:t>Prioritised</a:t>
            </a:r>
          </a:p>
          <a:p>
            <a:pPr algn="l" indent="-110000" marL="110000">
              <a:lnSpc>
                <a:spcPct val="102000"/>
              </a:lnSpc>
              <a:spcBef>
                <a:spcPts val="0"/>
              </a:spcBef>
              <a:spcAft>
                <a:spcPts val="320"/>
              </a:spcAft>
            </a:pPr>
            <a:r>
              <a:rPr sz="700" b="0" i="0">
                <a:solidFill>
                  <a:srgbClr val="C77D0A"/>
                </a:solidFill>
                <a:latin typeface="Manrope"/>
                <a:cs typeface="Manrope"/>
              </a:rPr>
              <a:t>● </a:t>
            </a:r>
            <a:r>
              <a:rPr sz="720" b="1" i="0">
                <a:solidFill>
                  <a:srgbClr val="25303B"/>
                </a:solidFill>
                <a:latin typeface="Manrope"/>
                <a:cs typeface="Manrope"/>
              </a:rPr>
              <a:t>CM-785  </a:t>
            </a:r>
            <a:r>
              <a:rPr sz="720" b="0" i="0">
                <a:solidFill>
                  <a:srgbClr val="25303B"/>
                </a:solidFill>
                <a:latin typeface="Manrope"/>
                <a:cs typeface="Manrope"/>
              </a:rPr>
              <a:t>Automate advance payments for Gold/Silver FOs  </a:t>
            </a:r>
            <a:r>
              <a:rPr sz="640" b="1" i="1">
                <a:solidFill>
                  <a:srgbClr val="6043A3"/>
                </a:solidFill>
                <a:latin typeface="Manrope"/>
                <a:cs typeface="Manrope"/>
              </a:rPr>
              <a:t>Prioritised</a:t>
            </a:r>
          </a:p>
          <a:p>
            <a:pPr algn="l" indent="-110000" marL="110000">
              <a:lnSpc>
                <a:spcPct val="102000"/>
              </a:lnSpc>
              <a:spcBef>
                <a:spcPts val="0"/>
              </a:spcBef>
              <a:spcAft>
                <a:spcPts val="320"/>
              </a:spcAft>
            </a:pPr>
            <a:r>
              <a:rPr sz="700" b="0" i="0">
                <a:solidFill>
                  <a:srgbClr val="C77D0A"/>
                </a:solidFill>
                <a:latin typeface="Manrope"/>
                <a:cs typeface="Manrope"/>
              </a:rPr>
              <a:t>● </a:t>
            </a:r>
            <a:r>
              <a:rPr sz="720" b="1" i="0">
                <a:solidFill>
                  <a:srgbClr val="25303B"/>
                </a:solidFill>
                <a:latin typeface="Manrope"/>
                <a:cs typeface="Manrope"/>
              </a:rPr>
              <a:t>CM-660  </a:t>
            </a:r>
            <a:r>
              <a:rPr sz="720" b="0" i="0">
                <a:solidFill>
                  <a:srgbClr val="25303B"/>
                </a:solidFill>
                <a:latin typeface="Manrope"/>
                <a:cs typeface="Manrope"/>
              </a:rPr>
              <a:t>Automate SIM consent collection (pre-transit)  </a:t>
            </a:r>
            <a:r>
              <a:rPr sz="640" b="1" i="1">
                <a:solidFill>
                  <a:srgbClr val="C77D0A"/>
                </a:solidFill>
                <a:latin typeface="Manrope"/>
                <a:cs typeface="Manrope"/>
              </a:rPr>
              <a:t>On-hold</a:t>
            </a:r>
          </a:p>
          <a:p>
            <a:pPr algn="l" indent="-110000" marL="110000">
              <a:lnSpc>
                <a:spcPct val="102000"/>
              </a:lnSpc>
              <a:spcBef>
                <a:spcPts val="0"/>
              </a:spcBef>
              <a:spcAft>
                <a:spcPts val="320"/>
              </a:spcAft>
            </a:pPr>
            <a:r>
              <a:rPr sz="700" b="0" i="0">
                <a:solidFill>
                  <a:srgbClr val="C77D0A"/>
                </a:solidFill>
                <a:latin typeface="Manrope"/>
                <a:cs typeface="Manrope"/>
              </a:rPr>
              <a:t>● </a:t>
            </a:r>
            <a:r>
              <a:rPr sz="720" b="1" i="0">
                <a:solidFill>
                  <a:srgbClr val="25303B"/>
                </a:solidFill>
                <a:latin typeface="Manrope"/>
                <a:cs typeface="Manrope"/>
              </a:rPr>
              <a:t>CM-665  </a:t>
            </a:r>
            <a:r>
              <a:rPr sz="720" b="0" i="0">
                <a:solidFill>
                  <a:srgbClr val="25303B"/>
                </a:solidFill>
                <a:latin typeface="Manrope"/>
                <a:cs typeface="Manrope"/>
              </a:rPr>
              <a:t>Automated transit-delay detection &amp; escalation  </a:t>
            </a:r>
            <a:r>
              <a:rPr sz="640" b="1" i="1">
                <a:solidFill>
                  <a:srgbClr val="6043A3"/>
                </a:solidFill>
                <a:latin typeface="Manrope"/>
                <a:cs typeface="Manrope"/>
              </a:rPr>
              <a:t>Prioritised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39533" y="966000"/>
            <a:ext cx="2864933" cy="2854000"/>
          </a:xfrm>
          <a:prstGeom prst="roundRect">
            <a:avLst>
              <a:gd name="adj" fmla="val 9000"/>
            </a:avLst>
          </a:prstGeom>
          <a:solidFill>
            <a:srgbClr val="F7F8FA"/>
          </a:solidFill>
          <a:ln w="6350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139533" y="966000"/>
            <a:ext cx="2864933" cy="250000"/>
          </a:xfrm>
          <a:prstGeom prst="roundRect">
            <a:avLst>
              <a:gd name="adj" fmla="val 9000"/>
            </a:avLst>
          </a:prstGeom>
          <a:solidFill>
            <a:srgbClr val="3E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9533" y="966000"/>
            <a:ext cx="2774933" cy="2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Manrope"/>
                <a:cs typeface="Manrope"/>
              </a:rPr>
              <a:t>AUGUST   </a:t>
            </a:r>
            <a:r>
              <a:rPr sz="850" b="1" i="0">
                <a:solidFill>
                  <a:srgbClr val="C5CCD6"/>
                </a:solidFill>
                <a:latin typeface="Manrope"/>
                <a:cs typeface="Manrope"/>
              </a:rPr>
              <a:t>(11)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3533" y="1272000"/>
            <a:ext cx="2754933" cy="25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10000" marL="110000">
              <a:lnSpc>
                <a:spcPct val="102000"/>
              </a:lnSpc>
              <a:spcBef>
                <a:spcPts val="0"/>
              </a:spcBef>
              <a:spcAft>
                <a:spcPts val="320"/>
              </a:spcAft>
            </a:pPr>
            <a:r>
              <a:rPr sz="700" b="0" i="0">
                <a:solidFill>
                  <a:srgbClr val="1F3763"/>
                </a:solidFill>
                <a:latin typeface="Manrope"/>
                <a:cs typeface="Manrope"/>
              </a:rPr>
              <a:t>● </a:t>
            </a:r>
            <a:r>
              <a:rPr sz="720" b="0" i="0">
                <a:solidFill>
                  <a:srgbClr val="25303B"/>
                </a:solidFill>
                <a:latin typeface="Manrope"/>
                <a:cs typeface="Manrope"/>
              </a:rPr>
              <a:t>Ledger Phase-1 production rollout (continues from July)  </a:t>
            </a:r>
            <a:r>
              <a:rPr sz="640" b="1" i="1">
                <a:solidFill>
                  <a:srgbClr val="1F3763"/>
                </a:solidFill>
                <a:latin typeface="Manrope"/>
                <a:cs typeface="Manrope"/>
              </a:rPr>
              <a:t>In Dev</a:t>
            </a:r>
          </a:p>
          <a:p>
            <a:pPr algn="l" indent="-110000" marL="110000">
              <a:lnSpc>
                <a:spcPct val="102000"/>
              </a:lnSpc>
              <a:spcBef>
                <a:spcPts val="0"/>
              </a:spcBef>
              <a:spcAft>
                <a:spcPts val="320"/>
              </a:spcAft>
            </a:pPr>
            <a:r>
              <a:rPr sz="700" b="0" i="0">
                <a:solidFill>
                  <a:srgbClr val="1F3763"/>
                </a:solidFill>
                <a:latin typeface="Manrope"/>
                <a:cs typeface="Manrope"/>
              </a:rPr>
              <a:t>● </a:t>
            </a:r>
            <a:r>
              <a:rPr sz="720" b="1" i="0">
                <a:solidFill>
                  <a:srgbClr val="25303B"/>
                </a:solidFill>
                <a:latin typeface="Manrope"/>
                <a:cs typeface="Manrope"/>
              </a:rPr>
              <a:t>CM-784  </a:t>
            </a:r>
            <a:r>
              <a:rPr sz="720" b="0" i="0">
                <a:solidFill>
                  <a:srgbClr val="25303B"/>
                </a:solidFill>
                <a:latin typeface="Manrope"/>
                <a:cs typeface="Manrope"/>
              </a:rPr>
              <a:t>Trip Statement — 3-yr financial ledger tab in FO App  </a:t>
            </a:r>
            <a:r>
              <a:rPr sz="640" b="1" i="1">
                <a:solidFill>
                  <a:srgbClr val="6043A3"/>
                </a:solidFill>
                <a:latin typeface="Manrope"/>
                <a:cs typeface="Manrope"/>
              </a:rPr>
              <a:t>Prioritised</a:t>
            </a:r>
          </a:p>
          <a:p>
            <a:pPr algn="l" indent="-110000" marL="110000">
              <a:lnSpc>
                <a:spcPct val="102000"/>
              </a:lnSpc>
              <a:spcBef>
                <a:spcPts val="0"/>
              </a:spcBef>
              <a:spcAft>
                <a:spcPts val="320"/>
              </a:spcAft>
            </a:pPr>
            <a:r>
              <a:rPr sz="700" b="0" i="0">
                <a:solidFill>
                  <a:srgbClr val="1F3763"/>
                </a:solidFill>
                <a:latin typeface="Manrope"/>
                <a:cs typeface="Manrope"/>
              </a:rPr>
              <a:t>● </a:t>
            </a:r>
            <a:r>
              <a:rPr sz="720" b="1" i="0">
                <a:solidFill>
                  <a:srgbClr val="25303B"/>
                </a:solidFill>
                <a:latin typeface="Manrope"/>
                <a:cs typeface="Manrope"/>
              </a:rPr>
              <a:t>CM-736  </a:t>
            </a:r>
            <a:r>
              <a:rPr sz="720" b="0" i="0">
                <a:solidFill>
                  <a:srgbClr val="25303B"/>
                </a:solidFill>
                <a:latin typeface="Manrope"/>
                <a:cs typeface="Manrope"/>
              </a:rPr>
              <a:t>FO App: show TDS rate at trip level  </a:t>
            </a:r>
            <a:r>
              <a:rPr sz="640" b="1" i="1">
                <a:solidFill>
                  <a:srgbClr val="6043A3"/>
                </a:solidFill>
                <a:latin typeface="Manrope"/>
                <a:cs typeface="Manrope"/>
              </a:rPr>
              <a:t>Prioritised</a:t>
            </a:r>
          </a:p>
          <a:p>
            <a:pPr algn="l" indent="-110000" marL="110000">
              <a:lnSpc>
                <a:spcPct val="102000"/>
              </a:lnSpc>
              <a:spcBef>
                <a:spcPts val="0"/>
              </a:spcBef>
              <a:spcAft>
                <a:spcPts val="320"/>
              </a:spcAft>
            </a:pPr>
            <a:r>
              <a:rPr sz="700" b="0" i="0">
                <a:solidFill>
                  <a:srgbClr val="1F3763"/>
                </a:solidFill>
                <a:latin typeface="Manrope"/>
                <a:cs typeface="Manrope"/>
              </a:rPr>
              <a:t>● </a:t>
            </a:r>
            <a:r>
              <a:rPr sz="720" b="1" i="0">
                <a:solidFill>
                  <a:srgbClr val="25303B"/>
                </a:solidFill>
                <a:latin typeface="Manrope"/>
                <a:cs typeface="Manrope"/>
              </a:rPr>
              <a:t>CM-791  </a:t>
            </a:r>
            <a:r>
              <a:rPr sz="720" b="0" i="0">
                <a:solidFill>
                  <a:srgbClr val="25303B"/>
                </a:solidFill>
                <a:latin typeface="Manrope"/>
                <a:cs typeface="Manrope"/>
              </a:rPr>
              <a:t>TDS transparency + self-serve TDS declaration in FO App  </a:t>
            </a:r>
            <a:r>
              <a:rPr sz="640" b="1" i="1">
                <a:solidFill>
                  <a:srgbClr val="6043A3"/>
                </a:solidFill>
                <a:latin typeface="Manrope"/>
                <a:cs typeface="Manrope"/>
              </a:rPr>
              <a:t>Prioritised</a:t>
            </a:r>
          </a:p>
          <a:p>
            <a:pPr algn="l" indent="-110000" marL="110000">
              <a:lnSpc>
                <a:spcPct val="102000"/>
              </a:lnSpc>
              <a:spcBef>
                <a:spcPts val="0"/>
              </a:spcBef>
              <a:spcAft>
                <a:spcPts val="320"/>
              </a:spcAft>
            </a:pPr>
            <a:r>
              <a:rPr sz="700" b="0" i="0">
                <a:solidFill>
                  <a:srgbClr val="26815C"/>
                </a:solidFill>
                <a:latin typeface="Manrope"/>
                <a:cs typeface="Manrope"/>
              </a:rPr>
              <a:t>● </a:t>
            </a:r>
            <a:r>
              <a:rPr sz="720" b="1" i="0">
                <a:solidFill>
                  <a:srgbClr val="25303B"/>
                </a:solidFill>
                <a:latin typeface="Manrope"/>
                <a:cs typeface="Manrope"/>
              </a:rPr>
              <a:t>CM-821  </a:t>
            </a:r>
            <a:r>
              <a:rPr sz="720" b="0" i="0">
                <a:solidFill>
                  <a:srgbClr val="25303B"/>
                </a:solidFill>
                <a:latin typeface="Manrope"/>
                <a:cs typeface="Manrope"/>
              </a:rPr>
              <a:t>Auto CRM alerts: bids received / inventory matched / approval assigned  </a:t>
            </a:r>
            <a:r>
              <a:rPr sz="640" b="1" i="1">
                <a:solidFill>
                  <a:srgbClr val="6043A3"/>
                </a:solidFill>
                <a:latin typeface="Manrope"/>
                <a:cs typeface="Manrope"/>
              </a:rPr>
              <a:t>Prioritised</a:t>
            </a:r>
          </a:p>
          <a:p>
            <a:pPr algn="l" indent="-110000" marL="110000">
              <a:lnSpc>
                <a:spcPct val="102000"/>
              </a:lnSpc>
              <a:spcBef>
                <a:spcPts val="0"/>
              </a:spcBef>
              <a:spcAft>
                <a:spcPts val="320"/>
              </a:spcAft>
            </a:pPr>
            <a:r>
              <a:rPr sz="700" b="0" i="0">
                <a:solidFill>
                  <a:srgbClr val="26815C"/>
                </a:solidFill>
                <a:latin typeface="Manrope"/>
                <a:cs typeface="Manrope"/>
              </a:rPr>
              <a:t>● </a:t>
            </a:r>
            <a:r>
              <a:rPr sz="720" b="1" i="0">
                <a:solidFill>
                  <a:srgbClr val="25303B"/>
                </a:solidFill>
                <a:latin typeface="Manrope"/>
                <a:cs typeface="Manrope"/>
              </a:rPr>
              <a:t>CM-377  </a:t>
            </a:r>
            <a:r>
              <a:rPr sz="720" b="0" i="0">
                <a:solidFill>
                  <a:srgbClr val="25303B"/>
                </a:solidFill>
                <a:latin typeface="Manrope"/>
                <a:cs typeface="Manrope"/>
              </a:rPr>
              <a:t>Sort demand by Demand Actionability Score to prioritise loads  </a:t>
            </a:r>
            <a:r>
              <a:rPr sz="640" b="1" i="1">
                <a:solidFill>
                  <a:srgbClr val="6B7480"/>
                </a:solidFill>
                <a:latin typeface="Manrope"/>
                <a:cs typeface="Manrope"/>
              </a:rPr>
              <a:t>Planned</a:t>
            </a:r>
          </a:p>
          <a:p>
            <a:pPr algn="l" indent="-110000" marL="110000">
              <a:lnSpc>
                <a:spcPct val="102000"/>
              </a:lnSpc>
              <a:spcBef>
                <a:spcPts val="0"/>
              </a:spcBef>
              <a:spcAft>
                <a:spcPts val="320"/>
              </a:spcAft>
            </a:pPr>
            <a:r>
              <a:rPr sz="700" b="0" i="0">
                <a:solidFill>
                  <a:srgbClr val="26815C"/>
                </a:solidFill>
                <a:latin typeface="Manrope"/>
                <a:cs typeface="Manrope"/>
              </a:rPr>
              <a:t>● </a:t>
            </a:r>
            <a:r>
              <a:rPr sz="720" b="1" i="0">
                <a:solidFill>
                  <a:srgbClr val="25303B"/>
                </a:solidFill>
                <a:latin typeface="Manrope"/>
                <a:cs typeface="Manrope"/>
              </a:rPr>
              <a:t>CM-823  </a:t>
            </a:r>
            <a:r>
              <a:rPr sz="720" b="0" i="0">
                <a:solidFill>
                  <a:srgbClr val="25303B"/>
                </a:solidFill>
                <a:latin typeface="Manrope"/>
                <a:cs typeface="Manrope"/>
              </a:rPr>
              <a:t>Build vehicle heat-map for location movement  </a:t>
            </a:r>
            <a:r>
              <a:rPr sz="640" b="1" i="1">
                <a:solidFill>
                  <a:srgbClr val="6B7480"/>
                </a:solidFill>
                <a:latin typeface="Manrope"/>
                <a:cs typeface="Manrope"/>
              </a:rPr>
              <a:t>Planned</a:t>
            </a:r>
          </a:p>
          <a:p>
            <a:pPr algn="l" indent="-110000" marL="110000">
              <a:lnSpc>
                <a:spcPct val="102000"/>
              </a:lnSpc>
              <a:spcBef>
                <a:spcPts val="0"/>
              </a:spcBef>
              <a:spcAft>
                <a:spcPts val="320"/>
              </a:spcAft>
            </a:pPr>
            <a:r>
              <a:rPr sz="700" b="0" i="0">
                <a:solidFill>
                  <a:srgbClr val="26815C"/>
                </a:solidFill>
                <a:latin typeface="Manrope"/>
                <a:cs typeface="Manrope"/>
              </a:rPr>
              <a:t>● </a:t>
            </a:r>
            <a:r>
              <a:rPr sz="720" b="0" i="0">
                <a:solidFill>
                  <a:srgbClr val="25303B"/>
                </a:solidFill>
                <a:latin typeface="Manrope"/>
                <a:cs typeface="Manrope"/>
              </a:rPr>
              <a:t>Auto-add vehicle to tracking master on trip completion (raise trackable count)  </a:t>
            </a:r>
            <a:r>
              <a:rPr sz="640" b="1" i="1">
                <a:solidFill>
                  <a:srgbClr val="6B7480"/>
                </a:solidFill>
                <a:latin typeface="Manrope"/>
                <a:cs typeface="Manrope"/>
              </a:rPr>
              <a:t>Planned</a:t>
            </a:r>
          </a:p>
          <a:p>
            <a:pPr algn="l" indent="-110000" marL="110000">
              <a:lnSpc>
                <a:spcPct val="102000"/>
              </a:lnSpc>
              <a:spcBef>
                <a:spcPts val="0"/>
              </a:spcBef>
              <a:spcAft>
                <a:spcPts val="320"/>
              </a:spcAft>
            </a:pPr>
            <a:r>
              <a:rPr sz="700" b="0" i="0">
                <a:solidFill>
                  <a:srgbClr val="26815C"/>
                </a:solidFill>
                <a:latin typeface="Manrope"/>
                <a:cs typeface="Manrope"/>
              </a:rPr>
              <a:t>● </a:t>
            </a:r>
            <a:r>
              <a:rPr sz="720" b="1" i="0">
                <a:solidFill>
                  <a:srgbClr val="25303B"/>
                </a:solidFill>
                <a:latin typeface="Manrope"/>
                <a:cs typeface="Manrope"/>
              </a:rPr>
              <a:t>CM-824  </a:t>
            </a:r>
            <a:r>
              <a:rPr sz="720" b="0" i="0">
                <a:solidFill>
                  <a:srgbClr val="25303B"/>
                </a:solidFill>
                <a:latin typeface="Manrope"/>
                <a:cs typeface="Manrope"/>
              </a:rPr>
              <a:t>In-CRM calling with callback on unanswered calls  </a:t>
            </a:r>
            <a:r>
              <a:rPr sz="640" b="1" i="1">
                <a:solidFill>
                  <a:srgbClr val="6B7480"/>
                </a:solidFill>
                <a:latin typeface="Manrope"/>
                <a:cs typeface="Manrope"/>
              </a:rPr>
              <a:t>Planned</a:t>
            </a:r>
          </a:p>
          <a:p>
            <a:pPr algn="l" indent="-110000" marL="110000">
              <a:lnSpc>
                <a:spcPct val="102000"/>
              </a:lnSpc>
              <a:spcBef>
                <a:spcPts val="0"/>
              </a:spcBef>
              <a:spcAft>
                <a:spcPts val="320"/>
              </a:spcAft>
            </a:pPr>
            <a:r>
              <a:rPr sz="700" b="0" i="0">
                <a:solidFill>
                  <a:srgbClr val="6043A3"/>
                </a:solidFill>
                <a:latin typeface="Manrope"/>
                <a:cs typeface="Manrope"/>
              </a:rPr>
              <a:t>● </a:t>
            </a:r>
            <a:r>
              <a:rPr sz="720" b="1" i="0">
                <a:solidFill>
                  <a:srgbClr val="25303B"/>
                </a:solidFill>
                <a:latin typeface="Manrope"/>
                <a:cs typeface="Manrope"/>
              </a:rPr>
              <a:t>CM-826  </a:t>
            </a:r>
            <a:r>
              <a:rPr sz="720" b="0" i="0">
                <a:solidFill>
                  <a:srgbClr val="25303B"/>
                </a:solidFill>
                <a:latin typeface="Manrope"/>
                <a:cs typeface="Manrope"/>
              </a:rPr>
              <a:t>Ticketing for FOs not on the app (WhatsApp / IVR / agent)  </a:t>
            </a:r>
            <a:r>
              <a:rPr sz="640" b="1" i="1">
                <a:solidFill>
                  <a:srgbClr val="6B7480"/>
                </a:solidFill>
                <a:latin typeface="Manrope"/>
                <a:cs typeface="Manrope"/>
              </a:rPr>
              <a:t>Planned</a:t>
            </a:r>
          </a:p>
          <a:p>
            <a:pPr algn="l" indent="-110000" marL="110000">
              <a:lnSpc>
                <a:spcPct val="102000"/>
              </a:lnSpc>
              <a:spcBef>
                <a:spcPts val="0"/>
              </a:spcBef>
              <a:spcAft>
                <a:spcPts val="320"/>
              </a:spcAft>
            </a:pPr>
            <a:r>
              <a:rPr sz="700" b="0" i="0">
                <a:solidFill>
                  <a:srgbClr val="C77D0A"/>
                </a:solidFill>
                <a:latin typeface="Manrope"/>
                <a:cs typeface="Manrope"/>
              </a:rPr>
              <a:t>● </a:t>
            </a:r>
            <a:r>
              <a:rPr sz="720" b="1" i="0">
                <a:solidFill>
                  <a:srgbClr val="25303B"/>
                </a:solidFill>
                <a:latin typeface="Manrope"/>
                <a:cs typeface="Manrope"/>
              </a:rPr>
              <a:t>CM-825  </a:t>
            </a:r>
            <a:r>
              <a:rPr sz="720" b="0" i="0">
                <a:solidFill>
                  <a:srgbClr val="25303B"/>
                </a:solidFill>
                <a:latin typeface="Manrope"/>
                <a:cs typeface="Manrope"/>
              </a:rPr>
              <a:t>Auto-share loading location to driver (call + WhatsApp)  </a:t>
            </a:r>
            <a:r>
              <a:rPr sz="640" b="1" i="1">
                <a:solidFill>
                  <a:srgbClr val="6B7480"/>
                </a:solidFill>
                <a:latin typeface="Manrope"/>
                <a:cs typeface="Manrope"/>
              </a:rPr>
              <a:t>Planned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50466" y="966000"/>
            <a:ext cx="2864933" cy="2854000"/>
          </a:xfrm>
          <a:prstGeom prst="roundRect">
            <a:avLst>
              <a:gd name="adj" fmla="val 9000"/>
            </a:avLst>
          </a:prstGeom>
          <a:solidFill>
            <a:srgbClr val="F7F8FA"/>
          </a:solidFill>
          <a:ln w="6350">
            <a:solidFill>
              <a:srgbClr val="D5DA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050466" y="966000"/>
            <a:ext cx="2864933" cy="250000"/>
          </a:xfrm>
          <a:prstGeom prst="roundRect">
            <a:avLst>
              <a:gd name="adj" fmla="val 9000"/>
            </a:avLst>
          </a:prstGeom>
          <a:solidFill>
            <a:srgbClr val="3E4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0466" y="966000"/>
            <a:ext cx="2774933" cy="2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Manrope"/>
                <a:cs typeface="Manrope"/>
              </a:rPr>
              <a:t>SEPTEMBER   </a:t>
            </a:r>
            <a:r>
              <a:rPr sz="850" b="1" i="0">
                <a:solidFill>
                  <a:srgbClr val="C5CCD6"/>
                </a:solidFill>
                <a:latin typeface="Manrope"/>
                <a:cs typeface="Manrope"/>
              </a:rPr>
              <a:t>(6)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14466" y="1272000"/>
            <a:ext cx="2754933" cy="25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10000" marL="110000">
              <a:lnSpc>
                <a:spcPct val="102000"/>
              </a:lnSpc>
              <a:spcBef>
                <a:spcPts val="0"/>
              </a:spcBef>
              <a:spcAft>
                <a:spcPts val="320"/>
              </a:spcAft>
            </a:pPr>
            <a:r>
              <a:rPr sz="700" b="0" i="0">
                <a:solidFill>
                  <a:srgbClr val="1F3763"/>
                </a:solidFill>
                <a:latin typeface="Manrope"/>
                <a:cs typeface="Manrope"/>
              </a:rPr>
              <a:t>● </a:t>
            </a:r>
            <a:r>
              <a:rPr sz="720" b="1" i="0">
                <a:solidFill>
                  <a:srgbClr val="25303B"/>
                </a:solidFill>
                <a:latin typeface="Manrope"/>
                <a:cs typeface="Manrope"/>
              </a:rPr>
              <a:t>CM-828  </a:t>
            </a:r>
            <a:r>
              <a:rPr sz="720" b="0" i="0">
                <a:solidFill>
                  <a:srgbClr val="25303B"/>
                </a:solidFill>
                <a:latin typeface="Manrope"/>
                <a:cs typeface="Manrope"/>
              </a:rPr>
              <a:t>Configurable LSP exposure limit + auto-disable on breach  </a:t>
            </a:r>
            <a:r>
              <a:rPr sz="640" b="1" i="1">
                <a:solidFill>
                  <a:srgbClr val="6B7480"/>
                </a:solidFill>
                <a:latin typeface="Manrope"/>
                <a:cs typeface="Manrope"/>
              </a:rPr>
              <a:t>Planned</a:t>
            </a:r>
          </a:p>
          <a:p>
            <a:pPr algn="l" indent="-110000" marL="110000">
              <a:lnSpc>
                <a:spcPct val="102000"/>
              </a:lnSpc>
              <a:spcBef>
                <a:spcPts val="0"/>
              </a:spcBef>
              <a:spcAft>
                <a:spcPts val="320"/>
              </a:spcAft>
            </a:pPr>
            <a:r>
              <a:rPr sz="700" b="0" i="0">
                <a:solidFill>
                  <a:srgbClr val="26815C"/>
                </a:solidFill>
                <a:latin typeface="Manrope"/>
                <a:cs typeface="Manrope"/>
              </a:rPr>
              <a:t>● </a:t>
            </a:r>
            <a:r>
              <a:rPr sz="720" b="0" i="0">
                <a:solidFill>
                  <a:srgbClr val="25303B"/>
                </a:solidFill>
                <a:latin typeface="Manrope"/>
                <a:cs typeface="Manrope"/>
              </a:rPr>
              <a:t>Agentic-AI calling for fulfilment agents  </a:t>
            </a:r>
            <a:r>
              <a:rPr sz="640" b="1" i="1">
                <a:solidFill>
                  <a:srgbClr val="6B7480"/>
                </a:solidFill>
                <a:latin typeface="Manrope"/>
                <a:cs typeface="Manrope"/>
              </a:rPr>
              <a:t>Planned</a:t>
            </a:r>
          </a:p>
          <a:p>
            <a:pPr algn="l" indent="-110000" marL="110000">
              <a:lnSpc>
                <a:spcPct val="102000"/>
              </a:lnSpc>
              <a:spcBef>
                <a:spcPts val="0"/>
              </a:spcBef>
              <a:spcAft>
                <a:spcPts val="320"/>
              </a:spcAft>
            </a:pPr>
            <a:r>
              <a:rPr sz="700" b="0" i="0">
                <a:solidFill>
                  <a:srgbClr val="26815C"/>
                </a:solidFill>
                <a:latin typeface="Manrope"/>
                <a:cs typeface="Manrope"/>
              </a:rPr>
              <a:t>● </a:t>
            </a:r>
            <a:r>
              <a:rPr sz="720" b="1" i="0">
                <a:solidFill>
                  <a:srgbClr val="25303B"/>
                </a:solidFill>
                <a:latin typeface="Manrope"/>
                <a:cs typeface="Manrope"/>
              </a:rPr>
              <a:t>CM-829  </a:t>
            </a:r>
            <a:r>
              <a:rPr sz="720" b="0" i="0">
                <a:solidFill>
                  <a:srgbClr val="25303B"/>
                </a:solidFill>
                <a:latin typeface="Manrope"/>
                <a:cs typeface="Manrope"/>
              </a:rPr>
              <a:t>Live target dashboard — LSP / PSA-CSM / City-wise  </a:t>
            </a:r>
            <a:r>
              <a:rPr sz="640" b="1" i="1">
                <a:solidFill>
                  <a:srgbClr val="6B7480"/>
                </a:solidFill>
                <a:latin typeface="Manrope"/>
                <a:cs typeface="Manrope"/>
              </a:rPr>
              <a:t>Planned</a:t>
            </a:r>
          </a:p>
          <a:p>
            <a:pPr algn="l" indent="-110000" marL="110000">
              <a:lnSpc>
                <a:spcPct val="102000"/>
              </a:lnSpc>
              <a:spcBef>
                <a:spcPts val="0"/>
              </a:spcBef>
              <a:spcAft>
                <a:spcPts val="320"/>
              </a:spcAft>
            </a:pPr>
            <a:r>
              <a:rPr sz="700" b="0" i="0">
                <a:solidFill>
                  <a:srgbClr val="6043A3"/>
                </a:solidFill>
                <a:latin typeface="Manrope"/>
                <a:cs typeface="Manrope"/>
              </a:rPr>
              <a:t>● </a:t>
            </a:r>
            <a:r>
              <a:rPr sz="720" b="1" i="0">
                <a:solidFill>
                  <a:srgbClr val="25303B"/>
                </a:solidFill>
                <a:latin typeface="Manrope"/>
                <a:cs typeface="Manrope"/>
              </a:rPr>
              <a:t>CM-820  </a:t>
            </a:r>
            <a:r>
              <a:rPr sz="720" b="0" i="0">
                <a:solidFill>
                  <a:srgbClr val="25303B"/>
                </a:solidFill>
                <a:latin typeface="Manrope"/>
                <a:cs typeface="Manrope"/>
              </a:rPr>
              <a:t>FO App: capture trip charges directly with approval flow  </a:t>
            </a:r>
            <a:r>
              <a:rPr sz="640" b="1" i="1">
                <a:solidFill>
                  <a:srgbClr val="6043A3"/>
                </a:solidFill>
                <a:latin typeface="Manrope"/>
                <a:cs typeface="Manrope"/>
              </a:rPr>
              <a:t>Prioritised</a:t>
            </a:r>
          </a:p>
          <a:p>
            <a:pPr algn="l" indent="-110000" marL="110000">
              <a:lnSpc>
                <a:spcPct val="102000"/>
              </a:lnSpc>
              <a:spcBef>
                <a:spcPts val="0"/>
              </a:spcBef>
              <a:spcAft>
                <a:spcPts val="320"/>
              </a:spcAft>
            </a:pPr>
            <a:r>
              <a:rPr sz="700" b="0" i="0">
                <a:solidFill>
                  <a:srgbClr val="C77D0A"/>
                </a:solidFill>
                <a:latin typeface="Manrope"/>
                <a:cs typeface="Manrope"/>
              </a:rPr>
              <a:t>● </a:t>
            </a:r>
            <a:r>
              <a:rPr sz="720" b="1" i="0">
                <a:solidFill>
                  <a:srgbClr val="25303B"/>
                </a:solidFill>
                <a:latin typeface="Manrope"/>
                <a:cs typeface="Manrope"/>
              </a:rPr>
              <a:t>CM-827  </a:t>
            </a:r>
            <a:r>
              <a:rPr sz="720" b="0" i="0">
                <a:solidFill>
                  <a:srgbClr val="25303B"/>
                </a:solidFill>
                <a:latin typeface="Manrope"/>
                <a:cs typeface="Manrope"/>
              </a:rPr>
              <a:t>Automate compliance document generation  </a:t>
            </a:r>
            <a:r>
              <a:rPr sz="640" b="1" i="1">
                <a:solidFill>
                  <a:srgbClr val="6B7480"/>
                </a:solidFill>
                <a:latin typeface="Manrope"/>
                <a:cs typeface="Manrope"/>
              </a:rPr>
              <a:t>Planned</a:t>
            </a:r>
          </a:p>
          <a:p>
            <a:pPr algn="l" indent="-110000" marL="110000">
              <a:lnSpc>
                <a:spcPct val="102000"/>
              </a:lnSpc>
              <a:spcBef>
                <a:spcPts val="0"/>
              </a:spcBef>
              <a:spcAft>
                <a:spcPts val="320"/>
              </a:spcAft>
            </a:pPr>
            <a:r>
              <a:rPr sz="700" b="0" i="0">
                <a:solidFill>
                  <a:srgbClr val="C77D0A"/>
                </a:solidFill>
                <a:latin typeface="Manrope"/>
                <a:cs typeface="Manrope"/>
              </a:rPr>
              <a:t>● </a:t>
            </a:r>
            <a:r>
              <a:rPr sz="720" b="1" i="0">
                <a:solidFill>
                  <a:srgbClr val="25303B"/>
                </a:solidFill>
                <a:latin typeface="Manrope"/>
                <a:cs typeface="Manrope"/>
              </a:rPr>
              <a:t>CM-822  </a:t>
            </a:r>
            <a:r>
              <a:rPr sz="720" b="0" i="0">
                <a:solidFill>
                  <a:srgbClr val="25303B"/>
                </a:solidFill>
                <a:latin typeface="Manrope"/>
                <a:cs typeface="Manrope"/>
              </a:rPr>
              <a:t>Automate POD audit via OCR  </a:t>
            </a:r>
            <a:r>
              <a:rPr sz="640" b="1" i="1">
                <a:solidFill>
                  <a:srgbClr val="6043A3"/>
                </a:solidFill>
                <a:latin typeface="Manrope"/>
                <a:cs typeface="Manrope"/>
              </a:rPr>
              <a:t>Prioritised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28600" y="3860000"/>
            <a:ext cx="8686800" cy="530000"/>
          </a:xfrm>
          <a:prstGeom prst="roundRect">
            <a:avLst>
              <a:gd name="adj" fmla="val 9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8600" y="3894000"/>
            <a:ext cx="8506800" cy="47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860" b="1" i="0">
                <a:solidFill>
                  <a:srgbClr val="1F3763"/>
                </a:solidFill>
                <a:latin typeface="Manrope"/>
                <a:cs typeface="Manrope"/>
              </a:rPr>
              <a:t>Notes for leadership   </a:t>
            </a: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Q2 exit targets: DAU → 500 · network-lane conversion → 20% · MS+FinOps bandwidth −30%  (25% / 50% are FY27 annual targets).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25303B"/>
                </a:solidFill>
                <a:latin typeface="Manrope"/>
                <a:cs typeface="Manrope"/>
              </a:rPr>
              <a:t>Network-lane conversion (Q1 FY27 actuals): Apr 13.7% → May 11.2% → Jun 17.1% — entering Q2 at ~17%, the plan above targets a 20% exit.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34A90"/>
      </a:accent1>
      <a:accent2>
        <a:srgbClr val="48A1FA"/>
      </a:accent2>
      <a:accent3>
        <a:srgbClr val="85C0FB"/>
      </a:accent3>
      <a:accent4>
        <a:srgbClr val="5B9BD5"/>
      </a:accent4>
      <a:accent5>
        <a:srgbClr val="7B7B7B"/>
      </a:accent5>
      <a:accent6>
        <a:srgbClr val="A5A5A5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