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Manrope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E02122-0968-4535-85BE-7FB82C2E50CA}">
  <a:tblStyle styleId="{EEE02122-0968-4535-85BE-7FB82C2E50C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97A7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97A7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font" Target="fonts/Manrope-regular.fntdata"/><Relationship Id="rId11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d7927554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0d792755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Bolder heading and tile effect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7b821143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7b82114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/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0" type="dt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79769" y="1649667"/>
            <a:ext cx="4771285" cy="317211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/>
          <p:nvPr>
            <p:ph type="title"/>
          </p:nvPr>
        </p:nvSpPr>
        <p:spPr>
          <a:xfrm>
            <a:off x="524290" y="1678806"/>
            <a:ext cx="35457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524290" y="2494073"/>
            <a:ext cx="3545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0"/>
          <p:cNvSpPr txBox="1"/>
          <p:nvPr/>
        </p:nvSpPr>
        <p:spPr>
          <a:xfrm>
            <a:off x="4810011" y="2246105"/>
            <a:ext cx="98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BOLD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Taking calculated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b="1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key to making progress. We act with confidence and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agility</a:t>
            </a:r>
            <a:r>
              <a:rPr b="0" i="0" lang="en" sz="80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accomplish our goals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 txBox="1"/>
          <p:nvPr/>
        </p:nvSpPr>
        <p:spPr>
          <a:xfrm>
            <a:off x="6036653" y="2229764"/>
            <a:ext cx="1266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OWN IT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Feeling and acting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empowered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critical to drive results.  We have an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Owner’s Mind-set</a:t>
            </a: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each of us takes full responsibility for the outcomes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0"/>
          <p:cNvSpPr txBox="1"/>
          <p:nvPr/>
        </p:nvSpPr>
        <p:spPr>
          <a:xfrm>
            <a:off x="4810011" y="3313406"/>
            <a:ext cx="12267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TOGETHER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Leveraging our collective genius while holding each other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accountable</a:t>
            </a: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helps us deliver the best. We </a:t>
            </a:r>
            <a:r>
              <a:rPr b="1" i="0" lang="en" sz="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collaborate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proactively and transparently to achieve innovative solutions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6049221" y="3313406"/>
            <a:ext cx="11574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EMPATHETIC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Embracing diversity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us stronger for differences are opportunities to learn. We work with </a:t>
            </a:r>
            <a:r>
              <a:rPr b="1" i="0" lang="en" sz="800" u="none" cap="none" strike="noStrike">
                <a:solidFill>
                  <a:srgbClr val="66FFFF"/>
                </a:solidFill>
                <a:latin typeface="Calibri"/>
                <a:ea typeface="Calibri"/>
                <a:cs typeface="Calibri"/>
                <a:sym typeface="Calibri"/>
              </a:rPr>
              <a:t>passion to delight customers </a:t>
            </a:r>
            <a:r>
              <a:rPr b="0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deliver greater success to our stakeholders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0"/>
          <p:cNvCxnSpPr/>
          <p:nvPr/>
        </p:nvCxnSpPr>
        <p:spPr>
          <a:xfrm>
            <a:off x="4886324" y="3191142"/>
            <a:ext cx="230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996853" y="2211173"/>
            <a:ext cx="0" cy="219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"/>
            <a:headEnd len="sm" w="sm" type="none"/>
            <a:tailEnd len="sm" w="sm" type="none"/>
          </a:ln>
        </p:spPr>
      </p:cxnSp>
      <p:sp>
        <p:nvSpPr>
          <p:cNvPr id="85" name="Google Shape;85;p20"/>
          <p:cNvSpPr txBox="1"/>
          <p:nvPr/>
        </p:nvSpPr>
        <p:spPr>
          <a:xfrm>
            <a:off x="4248872" y="931441"/>
            <a:ext cx="3495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TATA MOTORS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connecting aspirations by being bold in thought and action,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owning every opportunity and challenge, Solving together as one team and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engaging all our stakeholders with empathy.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</a:t>
            </a: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WHEN ONE!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5020696" y="636389"/>
            <a:ext cx="1952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CULTURE CREDO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ine" showMasterSp="0">
  <p:cSld name="Agenda Line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Image result for tata logo" id="89" name="Google Shape;8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8751" y="122928"/>
            <a:ext cx="601161" cy="55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132" y="4935048"/>
            <a:ext cx="1857199" cy="121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1"/>
          <p:cNvSpPr txBox="1"/>
          <p:nvPr/>
        </p:nvSpPr>
        <p:spPr>
          <a:xfrm>
            <a:off x="8738821" y="4935047"/>
            <a:ext cx="1449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94750" y="4838748"/>
            <a:ext cx="54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0" lvl="1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0" lvl="2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0" lvl="3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0" lvl="4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0" lvl="5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0" lvl="6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0" lvl="7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0" lvl="8" marL="0" marR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6000" y="11212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4000" y="916175"/>
            <a:ext cx="8578800" cy="3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902931" y="4869656"/>
            <a:ext cx="241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eight Tiger raises $6.5mn led by Mathew Cyriac's Florintree - Freight  Tiger" id="142" name="Google Shape;142;p23"/>
          <p:cNvPicPr preferRelativeResize="0"/>
          <p:nvPr/>
        </p:nvPicPr>
        <p:blipFill rotWithShape="1">
          <a:blip r:embed="rId6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3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619964" y="4823621"/>
            <a:ext cx="54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700"/>
              <a:t>‹#›</a:t>
            </a:fld>
            <a:endParaRPr sz="700"/>
          </a:p>
        </p:txBody>
      </p:sp>
      <p:sp>
        <p:nvSpPr>
          <p:cNvPr id="151" name="Google Shape;151;p23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28600" y="155000"/>
            <a:ext cx="7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F3763"/>
                </a:solidFill>
                <a:latin typeface="Manrope"/>
                <a:cs typeface="Manrope"/>
              </a:rPr>
              <a:t>Product &amp; Tech Updates  —  Carrier Matching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8600" y="455000"/>
            <a:ext cx="8300000" cy="2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B7480"/>
                </a:solidFill>
                <a:latin typeface="Manrope"/>
                <a:cs typeface="Manrope"/>
              </a:rPr>
              <a:t>Apr–Jun'26  ·  Q2 Board Review + Monthly TML Review   |   Steady momentum; pedal on inventory quality &amp; demand fulfilment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28600" y="690000"/>
            <a:ext cx="1476000" cy="300000"/>
          </a:xfrm>
          <a:prstGeom prst="roundRect">
            <a:avLst>
              <a:gd name="adj" fmla="val 8000"/>
            </a:avLst>
          </a:prstGeom>
          <a:solidFill>
            <a:srgbClr val="1F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68600" y="690000"/>
            <a:ext cx="1436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nrope"/>
                <a:cs typeface="Manrope"/>
              </a:rPr>
              <a:t>PROJECT / GOAL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728600" y="690000"/>
            <a:ext cx="2596000" cy="300000"/>
          </a:xfrm>
          <a:prstGeom prst="roundRect">
            <a:avLst>
              <a:gd name="adj" fmla="val 8000"/>
            </a:avLst>
          </a:prstGeom>
          <a:solidFill>
            <a:srgbClr val="268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768600" y="690000"/>
            <a:ext cx="2556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nrope"/>
                <a:cs typeface="Manrope"/>
              </a:rPr>
              <a:t>APR–JUN DELIVERY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348600" y="690000"/>
            <a:ext cx="2356000" cy="300000"/>
          </a:xfrm>
          <a:prstGeom prst="roundRect">
            <a:avLst>
              <a:gd name="adj" fmla="val 8000"/>
            </a:avLst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388600" y="690000"/>
            <a:ext cx="2316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nrope"/>
                <a:cs typeface="Manrope"/>
              </a:rPr>
              <a:t>TREND  (Jan–Jun'26)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728600" y="690000"/>
            <a:ext cx="2162800" cy="300000"/>
          </a:xfrm>
          <a:prstGeom prst="roundRect">
            <a:avLst>
              <a:gd name="adj" fmla="val 8000"/>
            </a:avLst>
          </a:prstGeom>
          <a:solidFill>
            <a:srgbClr val="604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768600" y="690000"/>
            <a:ext cx="21228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nrope"/>
                <a:cs typeface="Manrope"/>
              </a:rPr>
              <a:t>NEXT FOCUS  (Jul–Aug)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28600" y="1030000"/>
            <a:ext cx="8686800" cy="738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2600" y="1070000"/>
            <a:ext cx="1372000" cy="6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763"/>
                </a:solidFill>
                <a:latin typeface="Manrope"/>
                <a:cs typeface="Manrope"/>
              </a:rPr>
              <a:t>Drive FO App to 2,000 DAU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B7480"/>
                </a:solidFill>
                <a:latin typeface="Manrope"/>
                <a:cs typeface="Manrope"/>
              </a:rPr>
              <a:t>Better load experience &amp; payment visibility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792600" y="1064000"/>
            <a:ext cx="24920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Shipped better load experience &amp; payment visibility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DAU 178 → 252 (+42%); crossed 250/day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MAU 1,027 → 1,325 (+29%); Installs → 1,935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Stickiness 17.3% → 19.0%</a:t>
            </a:r>
          </a:p>
        </p:txBody>
      </p:sp>
      <p:pic>
        <p:nvPicPr>
          <p:cNvPr id="165" name="Picture 164" descr="row1_ap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850" y="1075000"/>
            <a:ext cx="1633500" cy="6480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6792600" y="1064000"/>
            <a:ext cx="20588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6043A3"/>
                </a:solidFill>
                <a:latin typeface="Manrope"/>
                <a:cs typeface="Manrope"/>
              </a:rPr>
              <a:t>›  Drive toward 2,000 DAU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Lift WAU → DAU daily habit &amp; retention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Deepen payment visibility + load discovery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28600" y="1784000"/>
            <a:ext cx="8686800" cy="7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92600" y="1824000"/>
            <a:ext cx="1372000" cy="6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763"/>
                </a:solidFill>
                <a:latin typeface="Manrope"/>
                <a:cs typeface="Manrope"/>
              </a:rPr>
              <a:t>Improve demand fulfilment to 40%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B7480"/>
                </a:solidFill>
                <a:latin typeface="Manrope"/>
                <a:cs typeface="Manrope"/>
              </a:rPr>
              <a:t>Matching, bid ranges &amp; real-time visibility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792600" y="1818000"/>
            <a:ext cx="24920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Matching, bid ranges &amp; live visibility shipped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June rebound — Bids 477 → 725 (+52%)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Placeable fulfilment 17.3% → 24.9%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Unique FO bidders 189 → 267</a:t>
            </a:r>
          </a:p>
        </p:txBody>
      </p:sp>
      <p:pic>
        <p:nvPicPr>
          <p:cNvPr id="170" name="Picture 169" descr="row2_dem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992" y="1829000"/>
            <a:ext cx="1533214" cy="64800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6792600" y="1818000"/>
            <a:ext cx="20588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6043A3"/>
                </a:solidFill>
                <a:latin typeface="Manrope"/>
                <a:cs typeface="Manrope"/>
              </a:rPr>
              <a:t>›  Lift placement on inventory &amp; FO bids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Convert bids → trips (Jun dipped to 10)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Push placeable fulfilment toward 40%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28600" y="2538000"/>
            <a:ext cx="8686800" cy="738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92600" y="2578000"/>
            <a:ext cx="1372000" cy="6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763"/>
                </a:solidFill>
                <a:latin typeface="Manrope"/>
                <a:cs typeface="Manrope"/>
              </a:rPr>
              <a:t>Increase inventory 50% (1,500/mo)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B7480"/>
                </a:solidFill>
                <a:latin typeface="Manrope"/>
                <a:cs typeface="Manrope"/>
              </a:rPr>
              <a:t>Via automated agentic calling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792600" y="2572000"/>
            <a:ext cx="24920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AI drives ~65% of inventory (869 of 1,341 in Jun)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Agent inv. 728 → 1,043 peak; manual 1,098 → 472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Gap: total inventory &amp; conversion fell 23.9% → 11.4%</a:t>
            </a:r>
          </a:p>
        </p:txBody>
      </p:sp>
      <p:pic>
        <p:nvPicPr>
          <p:cNvPr id="175" name="Picture 174" descr="row3_inven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7421" y="2583000"/>
            <a:ext cx="1502357" cy="6480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6792600" y="2572000"/>
            <a:ext cx="20588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6043A3"/>
                </a:solidFill>
                <a:latin typeface="Manrope"/>
                <a:cs typeface="Manrope"/>
              </a:rPr>
              <a:t>›  Inventory quality — best-time-to-call, power-lane proximity, FO filtering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Rebuild placeable conversion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Scale agent inventory to 1,500/mo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28600" y="3292000"/>
            <a:ext cx="8686800" cy="7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2600" y="3332000"/>
            <a:ext cx="1372000" cy="6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763"/>
                </a:solidFill>
                <a:latin typeface="Manrope"/>
                <a:cs typeface="Manrope"/>
              </a:rPr>
              <a:t>Cost to serve reduction by 70%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B7480"/>
                </a:solidFill>
                <a:latin typeface="Manrope"/>
                <a:cs typeface="Manrope"/>
              </a:rPr>
              <a:t>Automate ops processes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92600" y="3326000"/>
            <a:ext cx="24920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Automated Vahan verification &amp; journey updates in LSP WhatsApp [May]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Agent calls scaled to 16k/mo; ~10 hrs/day CT effort saved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~15% reduction in City Team resource cost</a:t>
            </a:r>
          </a:p>
        </p:txBody>
      </p:sp>
      <p:pic>
        <p:nvPicPr>
          <p:cNvPr id="180" name="Picture 179" descr="row4_co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0171" y="3337000"/>
            <a:ext cx="1596857" cy="64800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6792600" y="3326000"/>
            <a:ext cx="20588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6043A3"/>
                </a:solidFill>
                <a:latin typeface="Manrope"/>
                <a:cs typeface="Manrope"/>
              </a:rPr>
              <a:t>›  FO document collection via app payment incentives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AI CT for SIM-consent automation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Transit-delay detection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228600" y="4046000"/>
            <a:ext cx="8686800" cy="738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92600" y="4086000"/>
            <a:ext cx="1372000" cy="6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F3763"/>
                </a:solidFill>
                <a:latin typeface="Manrope"/>
                <a:cs typeface="Manrope"/>
              </a:rPr>
              <a:t>Ledger automation for compliance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6B7480"/>
                </a:solidFill>
                <a:latin typeface="Manrope"/>
                <a:cs typeface="Manrope"/>
              </a:rPr>
              <a:t>Trip &amp; party-level ledger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92600" y="4080000"/>
            <a:ext cx="24920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1" i="0">
                <a:solidFill>
                  <a:srgbClr val="26815C"/>
                </a:solidFill>
                <a:latin typeface="Manrope"/>
                <a:cs typeface="Manrope"/>
              </a:rPr>
              <a:t>•  Initiative picked up in June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•  Scoping trip-level &amp; party-level ledger design</a:t>
            </a:r>
          </a:p>
        </p:txBody>
      </p:sp>
      <p:pic>
        <p:nvPicPr>
          <p:cNvPr id="185" name="Picture 184" descr="row5_led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8412" y="4091000"/>
            <a:ext cx="2060375" cy="64800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6792600" y="4080000"/>
            <a:ext cx="2058800" cy="6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6043A3"/>
                </a:solidFill>
                <a:latin typeface="Manrope"/>
                <a:cs typeface="Manrope"/>
              </a:rPr>
              <a:t>›  Build trip-level &amp; party-level ledgers</a:t>
            </a:r>
          </a:p>
          <a:p>
            <a:pPr algn="l" indent="-137160" marL="137160">
              <a:lnSpc>
                <a:spcPct val="102000"/>
              </a:lnSpc>
              <a:spcBef>
                <a:spcPts val="0"/>
              </a:spcBef>
              <a:spcAft>
                <a:spcPts val="250"/>
              </a:spcAft>
            </a:pPr>
            <a:r>
              <a:rPr sz="819" b="0" i="0">
                <a:solidFill>
                  <a:srgbClr val="25303B"/>
                </a:solidFill>
                <a:latin typeface="Manrope"/>
                <a:cs typeface="Manrope"/>
              </a:rPr>
              <a:t>›  Wallet-based auto-reconciliation across trips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24"/>
          <p:cNvGraphicFramePr/>
          <p:nvPr/>
        </p:nvGraphicFramePr>
        <p:xfrm>
          <a:off x="242400" y="6432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{EEE02122-0968-4535-85BE-7FB82C2E50CA}</a:tableStyleId>
              </a:tblPr>
              <a:tblGrid>
                <a:gridCol w="1159675"/>
                <a:gridCol w="1833825"/>
                <a:gridCol w="849825"/>
                <a:gridCol w="802275"/>
                <a:gridCol w="3971000"/>
              </a:tblGrid>
              <a:tr h="28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Customer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Stage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ETA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MRR 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(INR Lacs)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7150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Comments</a:t>
                      </a:r>
                      <a:endParaRPr b="1"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715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3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Novoco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May 4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Pidilite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       May 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Existing customer, no additional MRR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MSP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Apr 25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22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0.5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-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Pittie Group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Client development is in progress. Awaiting development completion timelines from the client to finalize the go-live date.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TCPL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sng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May 15</a:t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June 15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3.5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Timeline shifted due to expanded 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Diageo Phase 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UAT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Jun 29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UAT 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Tata Bluescope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Partially Live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NA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Live with 8 locations. 1 plant go live pending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Kajaria Ceramics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2.7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The project kick-off initiated on 5th June,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6350" marB="0" marR="0" marL="3657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JSW Steel plant addition 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Kick Off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TBD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sng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1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New Plants addition via Integration we got approval from JSW Management Kickoff call with JSW IT is scheduled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BASF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Dev in progress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Aug 18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5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Solutioning and dev running in parallel</a:t>
                      </a:r>
                      <a:endParaRPr sz="10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36575">
                    <a:lnL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Freight Tiger raises $6.5mn led by Mathew Cyriac's Florintree - Freight  Tiger" id="158" name="Google Shape;158;p24"/>
          <p:cNvPicPr preferRelativeResize="0"/>
          <p:nvPr/>
        </p:nvPicPr>
        <p:blipFill rotWithShape="1">
          <a:blip r:embed="rId3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4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4"/>
          <p:cNvSpPr txBox="1"/>
          <p:nvPr>
            <p:ph type="title"/>
          </p:nvPr>
        </p:nvSpPr>
        <p:spPr>
          <a:xfrm>
            <a:off x="190600" y="201334"/>
            <a:ext cx="773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lang="en" sz="1700">
                <a:latin typeface="Manrope"/>
                <a:ea typeface="Manrope"/>
                <a:cs typeface="Manrope"/>
                <a:sym typeface="Manrope"/>
              </a:rPr>
              <a:t>Customer Integrations</a:t>
            </a:r>
            <a:endParaRPr sz="1700">
              <a:solidFill>
                <a:srgbClr val="98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lang="en" sz="1200">
                <a:latin typeface="Manrope"/>
                <a:ea typeface="Manrope"/>
                <a:cs typeface="Manrope"/>
                <a:sym typeface="Manrope"/>
              </a:rPr>
              <a:t>In progress integrations and their current statuses</a:t>
            </a:r>
            <a:endParaRPr sz="12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957011" y="41638"/>
            <a:ext cx="3537300" cy="307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Product/Tech team to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A90"/>
      </a:accent1>
      <a:accent2>
        <a:srgbClr val="48A1FA"/>
      </a:accent2>
      <a:accent3>
        <a:srgbClr val="85C0FB"/>
      </a:accent3>
      <a:accent4>
        <a:srgbClr val="5B9BD5"/>
      </a:accent4>
      <a:accent5>
        <a:srgbClr val="7B7B7B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