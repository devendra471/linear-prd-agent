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Manrope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Manrope-regular.fntdata"/><Relationship Id="rId8" Type="http://schemas.openxmlformats.org/officeDocument/2006/relationships/font" Target="fonts/Manrope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6cf35fc6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g3f6cf35fc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Bolder heading and tile effect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1">
  <p:cSld name="One column 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reight Tiger raises $6.5mn led by Mathew Cyriac's Florintree - Freight  Tiger" id="58" name="Google Shape;58;p14"/>
          <p:cNvPicPr preferRelativeResize="0"/>
          <p:nvPr/>
        </p:nvPicPr>
        <p:blipFill rotWithShape="1">
          <a:blip r:embed="rId3">
            <a:alphaModFix/>
          </a:blip>
          <a:srcRect b="11241" l="0" r="21086" t="14115"/>
          <a:stretch/>
        </p:blipFill>
        <p:spPr>
          <a:xfrm>
            <a:off x="8247328" y="65382"/>
            <a:ext cx="821475" cy="355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" name="Google Shape;59;p14"/>
          <p:cNvCxnSpPr/>
          <p:nvPr/>
        </p:nvCxnSpPr>
        <p:spPr>
          <a:xfrm>
            <a:off x="242398" y="642473"/>
            <a:ext cx="8616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9964" y="4823621"/>
            <a:ext cx="5481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7182075" y="4905000"/>
            <a:ext cx="16527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D9D9D9"/>
                </a:solidFill>
                <a:latin typeface="Manrope"/>
                <a:ea typeface="Manrope"/>
                <a:cs typeface="Manrope"/>
                <a:sym typeface="Manrope"/>
              </a:rPr>
              <a:t>@FreightTiger confidential</a:t>
            </a:r>
            <a:endParaRPr b="0" i="0" sz="800" u="none" cap="none" strike="noStrike">
              <a:solidFill>
                <a:srgbClr val="D9D9D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228600" y="155000"/>
            <a:ext cx="7899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1F3763"/>
                </a:solidFill>
                <a:latin typeface="Manrope"/>
                <a:ea typeface="Manrope"/>
                <a:cs typeface="Manrope"/>
                <a:sym typeface="Manrope"/>
              </a:rPr>
              <a:t>Product &amp; Tech Updates  —  Carrier Matching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228600" y="455000"/>
            <a:ext cx="830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322"/>
              <a:buFont typeface="Calibri"/>
              <a:buNone/>
            </a:pPr>
            <a:r>
              <a:rPr b="0" i="1" lang="en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Steady Momentum; Pedal on Inventory Quality and Demand Fulfilment</a:t>
            </a:r>
            <a:endParaRPr b="1" i="1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1" sz="1000" u="none" cap="none" strike="noStrike">
              <a:solidFill>
                <a:srgbClr val="6B748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1768600" y="690000"/>
            <a:ext cx="2556000" cy="2955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JUN–JUL PROGRESS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4388600" y="690000"/>
            <a:ext cx="2316000" cy="2955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TREND  (May–Jul'26)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6768600" y="690000"/>
            <a:ext cx="2122800" cy="2955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NEXT</a:t>
            </a:r>
            <a:r>
              <a:rPr b="1" lang="en" sz="95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Focus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228600" y="1030000"/>
            <a:ext cx="8686800" cy="7380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292600" y="1115587"/>
            <a:ext cx="13719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F3763"/>
                </a:solidFill>
                <a:latin typeface="Manrope"/>
                <a:ea typeface="Manrope"/>
                <a:cs typeface="Manrope"/>
                <a:sym typeface="Manrope"/>
              </a:rPr>
              <a:t>Drive FO App to 1,000 DAU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792600" y="1064574"/>
            <a:ext cx="24921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137160" lvl="0" marL="13716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25303B"/>
                </a:solidFill>
                <a:latin typeface="Manrope"/>
                <a:ea typeface="Manrope"/>
                <a:cs typeface="Manrope"/>
                <a:sym typeface="Manrope"/>
              </a:rPr>
              <a:t>•  Improved </a:t>
            </a:r>
            <a:r>
              <a:rPr b="0" i="0" lang="en" sz="800" u="none" cap="none" strike="noStrike">
                <a:solidFill>
                  <a:srgbClr val="25303B"/>
                </a:solidFill>
                <a:latin typeface="Manrope"/>
                <a:ea typeface="Manrope"/>
                <a:cs typeface="Manrope"/>
                <a:sym typeface="Manrope"/>
              </a:rPr>
              <a:t> load experience</a:t>
            </a:r>
            <a:r>
              <a:rPr b="0" i="0" lang="en" sz="800" u="none" cap="none" strike="noStrike">
                <a:solidFill>
                  <a:srgbClr val="25303B"/>
                </a:solidFill>
                <a:latin typeface="Manrope"/>
                <a:ea typeface="Manrope"/>
                <a:cs typeface="Manrope"/>
                <a:sym typeface="Manrope"/>
              </a:rPr>
              <a:t> for FOs based on vehicle location</a:t>
            </a:r>
            <a:endParaRPr b="0" i="0" sz="800" u="none" cap="none" strike="noStrike">
              <a:solidFill>
                <a:srgbClr val="25303B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37160" lvl="0" marL="13716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25303B"/>
                </a:solidFill>
                <a:latin typeface="Manrope"/>
                <a:ea typeface="Manrope"/>
                <a:cs typeface="Manrope"/>
                <a:sym typeface="Manrope"/>
              </a:rPr>
              <a:t>•  Visibility for payment deductions, My bids</a:t>
            </a:r>
            <a:endParaRPr b="0" i="0" sz="800" u="none" cap="none" strike="noStrike">
              <a:solidFill>
                <a:srgbClr val="25303B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37160" lvl="0" marL="13716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25303B"/>
                </a:solidFill>
                <a:latin typeface="Manrope"/>
                <a:ea typeface="Manrope"/>
                <a:cs typeface="Manrope"/>
                <a:sym typeface="Manrope"/>
              </a:rPr>
              <a:t>•  Customer support on App</a:t>
            </a:r>
            <a:endParaRPr b="0" i="0" sz="800" u="none" cap="none" strike="noStrike">
              <a:solidFill>
                <a:srgbClr val="25303B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37160" lvl="0" marL="137160" marR="0" rtl="0" algn="l">
              <a:lnSpc>
                <a:spcPct val="102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 DAU 271 → 298 (+10%); MAU 1,377 → 1,573 (+14%)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6792600" y="1045338"/>
            <a:ext cx="2058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137160" lvl="0" marL="13716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b="0" i="0" lang="en" sz="819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›  Drive towards 500 DAU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7160" lvl="0" marL="137160" marR="0" rtl="0" algn="l">
              <a:lnSpc>
                <a:spcPct val="102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b="0" i="0" lang="en" sz="819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›  Build Trip payment statement </a:t>
            </a:r>
            <a:r>
              <a:rPr b="0" i="0" lang="en" sz="819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+ load discovery</a:t>
            </a:r>
            <a:r>
              <a:rPr b="0" i="0" lang="en" sz="819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for workable lanes only </a:t>
            </a:r>
            <a:endParaRPr b="0" i="0" sz="819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37160" lvl="0" marL="137160" marR="0" rtl="0" algn="l">
              <a:lnSpc>
                <a:spcPct val="102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b="0" i="0" lang="en" sz="819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&gt; Request for advance directly from App</a:t>
            </a:r>
            <a:endParaRPr b="0" i="0" sz="819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228600" y="1784000"/>
            <a:ext cx="8686800" cy="738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292600" y="1869587"/>
            <a:ext cx="13719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F3763"/>
                </a:solidFill>
                <a:latin typeface="Manrope"/>
                <a:ea typeface="Manrope"/>
                <a:cs typeface="Manrope"/>
                <a:sym typeface="Manrope"/>
              </a:rPr>
              <a:t>Improve demand fulfilment to 25%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1792600" y="1927899"/>
            <a:ext cx="2492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137160" lvl="0" marL="13716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25303B"/>
                </a:solidFill>
                <a:latin typeface="Manrope"/>
                <a:ea typeface="Manrope"/>
                <a:cs typeface="Manrope"/>
                <a:sym typeface="Manrope"/>
              </a:rPr>
              <a:t>• Relevant inventory matching against demands</a:t>
            </a:r>
            <a:endParaRPr b="0" i="0" sz="800" u="none" cap="none" strike="noStrike">
              <a:solidFill>
                <a:srgbClr val="25303B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37160" lvl="0" marL="13716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25303B"/>
                </a:solidFill>
                <a:latin typeface="Manrope"/>
                <a:ea typeface="Manrope"/>
                <a:cs typeface="Manrope"/>
                <a:sym typeface="Manrope"/>
              </a:rPr>
              <a:t>• Simplify the placement experience in CRM</a:t>
            </a:r>
            <a:endParaRPr b="0" i="0" sz="800" u="none" cap="none" strike="noStrike">
              <a:solidFill>
                <a:srgbClr val="25303B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6792600" y="1887787"/>
            <a:ext cx="20589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b="0" i="0" lang="en" sz="819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›  Push </a:t>
            </a:r>
            <a:r>
              <a:rPr b="0" i="0" lang="en" sz="819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placeable fulfilment to 20% on network lanes</a:t>
            </a:r>
            <a:endParaRPr b="0" i="0" sz="819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228600" y="2538000"/>
            <a:ext cx="8686800" cy="738000"/>
          </a:xfrm>
          <a:prstGeom prst="roundRect">
            <a:avLst>
              <a:gd fmla="val 8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292600" y="2578000"/>
            <a:ext cx="13719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F3763"/>
                </a:solidFill>
                <a:latin typeface="Manrope"/>
                <a:ea typeface="Manrope"/>
                <a:cs typeface="Manrope"/>
                <a:sym typeface="Manrope"/>
              </a:rPr>
              <a:t>Increase inventory by 50% (1,500/mo)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1792600" y="2578605"/>
            <a:ext cx="2492100" cy="6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137160" lvl="0" marL="13716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b="0" i="0" lang="en" sz="819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Enabled  automated inventory creation via Agentic AI  in multi-lang</a:t>
            </a:r>
            <a:endParaRPr b="0" i="0" sz="819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37160" lvl="0" marL="13716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b="0" i="0" lang="en" sz="819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Multiple refinements to get quality inventory from  engaged FOs</a:t>
            </a:r>
            <a:endParaRPr b="0" i="0" sz="819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37160" lvl="0" marL="137160" marR="0" rtl="0" algn="l">
              <a:lnSpc>
                <a:spcPct val="102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b="0" i="0" lang="en" sz="819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AI drives ~65% of inventory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6792600" y="2701135"/>
            <a:ext cx="20589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137160" lvl="0" marL="13716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b="0" i="0" lang="en" sz="819" u="none" cap="none" strike="noStrike">
                <a:solidFill>
                  <a:srgbClr val="25303B"/>
                </a:solidFill>
                <a:latin typeface="Manrope"/>
                <a:ea typeface="Manrope"/>
                <a:cs typeface="Manrope"/>
                <a:sym typeface="Manrope"/>
              </a:rPr>
              <a:t>›  Focus inventory creation on network lane to 1500/mo inventory</a:t>
            </a:r>
            <a:endParaRPr b="0" i="0" sz="819" u="none" cap="none" strike="noStrike">
              <a:solidFill>
                <a:srgbClr val="25303B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4550698" y="3316744"/>
            <a:ext cx="2058900" cy="738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37160" lvl="0" marL="13716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B050"/>
                </a:solidFill>
                <a:latin typeface="Manrope"/>
                <a:ea typeface="Manrope"/>
                <a:cs typeface="Manrope"/>
                <a:sym typeface="Manrope"/>
              </a:rPr>
              <a:t>~</a:t>
            </a:r>
            <a:r>
              <a:rPr b="0" i="0" lang="en" sz="900" u="none" cap="none" strike="noStrike">
                <a:solidFill>
                  <a:srgbClr val="00B050"/>
                </a:solidFill>
                <a:latin typeface="Manrope"/>
                <a:ea typeface="Manrope"/>
                <a:cs typeface="Manrope"/>
                <a:sym typeface="Manrope"/>
              </a:rPr>
              <a:t>20%</a:t>
            </a:r>
            <a:r>
              <a:rPr b="0" i="0" lang="en" sz="900" u="none" cap="none" strike="noStrike">
                <a:solidFill>
                  <a:srgbClr val="00B050"/>
                </a:solidFill>
                <a:latin typeface="Manrope"/>
                <a:ea typeface="Manrope"/>
                <a:cs typeface="Manrope"/>
                <a:sym typeface="Manrope"/>
              </a:rPr>
              <a:t> reduction in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7160" lvl="0" marL="137160" marR="0" rtl="0" algn="ctr">
              <a:lnSpc>
                <a:spcPct val="102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B050"/>
                </a:solidFill>
                <a:latin typeface="Manrope"/>
                <a:ea typeface="Manrope"/>
                <a:cs typeface="Manrope"/>
                <a:sym typeface="Manrope"/>
              </a:rPr>
              <a:t>City Team resource cost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292600" y="3437604"/>
            <a:ext cx="13719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F3763"/>
                </a:solidFill>
                <a:latin typeface="Manrope"/>
                <a:ea typeface="Manrope"/>
                <a:cs typeface="Manrope"/>
                <a:sym typeface="Manrope"/>
              </a:rPr>
              <a:t>Cost to serve reduction by 50%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1792600" y="3390854"/>
            <a:ext cx="24921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137160" lvl="0" marL="13716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b="0" i="0" lang="en" sz="819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 Automated Vahan verification &amp; journey updates in LSP WhatsApp group, </a:t>
            </a:r>
            <a:endParaRPr b="0" i="0" sz="819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37160" lvl="0" marL="13716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b="0" i="0" lang="en" sz="819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 Automated SIM-consent via AI 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6792600" y="3307338"/>
            <a:ext cx="2058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137160" lvl="0" marL="13716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b="0" i="0" lang="en" sz="819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›  FO document collection via App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7160" lvl="0" marL="137160" marR="0" rtl="0" algn="l">
              <a:lnSpc>
                <a:spcPct val="102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b="0" i="0" lang="en" sz="819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›  Transit-delay detection &amp; automated follow up with LSP / 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7160" lvl="0" marL="137160" marR="0" rtl="0" algn="l">
              <a:lnSpc>
                <a:spcPct val="102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b="0" i="0" lang="en" sz="819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&gt;  Automate TDS calculation </a:t>
            </a:r>
            <a:endParaRPr b="0" i="0" sz="819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228600" y="4046000"/>
            <a:ext cx="8686800" cy="738000"/>
          </a:xfrm>
          <a:prstGeom prst="roundRect">
            <a:avLst>
              <a:gd fmla="val 8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292600" y="4086000"/>
            <a:ext cx="13719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F3763"/>
                </a:solidFill>
                <a:latin typeface="Manrope"/>
                <a:ea typeface="Manrope"/>
                <a:cs typeface="Manrope"/>
                <a:sym typeface="Manrope"/>
              </a:rPr>
              <a:t>Ledger automation for compliance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1792600" y="4356931"/>
            <a:ext cx="2492100" cy="1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137160" lvl="0" marL="13716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b="0" i="0" lang="en" sz="819" u="none" cap="none" strike="noStrike">
                <a:solidFill>
                  <a:srgbClr val="25303B"/>
                </a:solidFill>
                <a:latin typeface="Manrope"/>
                <a:ea typeface="Manrope"/>
                <a:cs typeface="Manrope"/>
                <a:sym typeface="Manrope"/>
              </a:rPr>
              <a:t>•  Design and Build  trip-level &amp; party-level ledger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6792600" y="4209135"/>
            <a:ext cx="20589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137160" lvl="0" marL="137160" marR="0" rtl="0" algn="l">
              <a:lnSpc>
                <a:spcPct val="102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b="0" i="0" lang="en" sz="819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›  Wallet-based auto-reconciliation across trips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228600" y="3294438"/>
            <a:ext cx="8686800" cy="738000"/>
          </a:xfrm>
          <a:prstGeom prst="roundRect">
            <a:avLst>
              <a:gd fmla="val 8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242400" y="705775"/>
            <a:ext cx="1491900" cy="2955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Project Goal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Picture 92" descr="j_row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8400" y="2583000"/>
            <a:ext cx="2196200" cy="648000"/>
          </a:xfrm>
          <a:prstGeom prst="rect">
            <a:avLst/>
          </a:prstGeom>
        </p:spPr>
      </p:pic>
      <p:pic>
        <p:nvPicPr>
          <p:cNvPr id="94" name="Picture 93" descr="j_row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8412" y="4091000"/>
            <a:ext cx="2060375" cy="648000"/>
          </a:xfrm>
          <a:prstGeom prst="rect">
            <a:avLst/>
          </a:prstGeom>
        </p:spPr>
      </p:pic>
      <p:pic>
        <p:nvPicPr>
          <p:cNvPr id="95" name="Picture 94" descr="j_row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9504" y="1838218"/>
            <a:ext cx="1652701" cy="712008"/>
          </a:xfrm>
          <a:prstGeom prst="rect">
            <a:avLst/>
          </a:prstGeom>
        </p:spPr>
      </p:pic>
      <p:pic>
        <p:nvPicPr>
          <p:cNvPr id="96" name="Picture 95" descr="j_row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56000" y="1018777"/>
            <a:ext cx="1765309" cy="73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