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Manrope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Manrope-regular.fntdata"/><Relationship Id="rId8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6cf35fc61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f6cf35fc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58" name="Google Shape;58;p1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9" name="Google Shape;59;p1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228600" y="155000"/>
            <a:ext cx="7899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Product &amp; Tech Updates  —  Carrier Matching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228600" y="455000"/>
            <a:ext cx="8300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i="1" lang="en" sz="12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Steady Momentum; Pedal on Inventory Quality and Demand Fulfilment</a:t>
            </a:r>
            <a:endParaRPr b="1" i="1" sz="1200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1" sz="1000" u="none" cap="none" strike="noStrike">
              <a:solidFill>
                <a:srgbClr val="6B748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1768600" y="690000"/>
            <a:ext cx="255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JUN–JUL PROGRESS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4388600" y="690000"/>
            <a:ext cx="23160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TREND  (May–Jul'26)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6768600" y="690000"/>
            <a:ext cx="21228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NEXT</a:t>
            </a:r>
            <a:r>
              <a:rPr b="1" lang="en" sz="95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 Focus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fmla="val 8000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292600" y="1115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Drive FO App to 1,000 DAU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1792600" y="1064574"/>
            <a:ext cx="24921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POD details + payment status &amp; timelines in app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Proactive POD dispute/deduction alerts + re-upload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DAU 271 → 298 (+10%); MAU 1,377 → 1,573 (+14%)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6792600" y="1045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Drive towards 500 DAU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Reach PSA directly for placement (in build)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Trip payment statement + in-app advance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292600" y="1869587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Improve demand fulfilment to 25%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1792600" y="1927899"/>
            <a:ext cx="2492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Near-match logic + match quality on demand list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Supplier availability: lane-specific vs unavailable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Agents onboarded (Clerk) for lane assignment</a:t>
            </a:r>
            <a:endParaRPr b="0" i="0" sz="800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6792600" y="1887787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Agent → lane auto-assignment (shipped)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Prioritise demand list; Demand-Bot context (in build)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Push network-lane fulfilment → 20%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292600" y="2578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Increase inventory by 50% (1,500/mo)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792600" y="2578605"/>
            <a:ext cx="2492100" cy="67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AI calling for live &amp; potential inventory (multi-lang)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WhatsApp fallback + callback; cooldown filtering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AI drives ~65% of inventory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792600" y="2701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›  Inventory creation on network lanes → 1,500/mo</a:t>
            </a:r>
            <a:endParaRPr b="0" i="0" sz="819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›  Improve inventory quality &amp; conversion</a:t>
            </a:r>
            <a:endParaRPr b="0" i="0" sz="819" u="none" cap="none" strike="noStrike">
              <a:solidFill>
                <a:srgbClr val="25303B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4550698" y="3316744"/>
            <a:ext cx="2058900" cy="738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37160" lvl="0" marL="137160" marR="0" rtl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~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20%</a:t>
            </a: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 reduction in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ctr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00B050"/>
                </a:solidFill>
                <a:latin typeface="Manrope"/>
                <a:ea typeface="Manrope"/>
                <a:cs typeface="Manrope"/>
                <a:sym typeface="Manrope"/>
              </a:rPr>
              <a:t>City Team resource cost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292600" y="3437604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Cost to serve reduction by 50%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1792600" y="3390854"/>
            <a:ext cx="2492100" cy="38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Automated advance payments for Gold/Silver FOs (validation → approval → auto-release)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WhatsApp-disconnect auto-reminders for CRM users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•  Vahan verification &amp; journey updates in LSP WhatsApp</a:t>
            </a:r>
            <a:endParaRPr b="0" i="0" sz="819" u="none" cap="none" strike="noStrik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3" name="Google Shape;83;p14"/>
          <p:cNvSpPr txBox="1"/>
          <p:nvPr/>
        </p:nvSpPr>
        <p:spPr>
          <a:xfrm>
            <a:off x="6792600" y="3307338"/>
            <a:ext cx="2058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Automate SIM-consent, pre-transit (in build)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FO doc collection via App; transit-delay detection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Auto-create Pylon tickets from LSP WhatsApp (POC)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4"/>
          <p:cNvSpPr txBox="1"/>
          <p:nvPr/>
        </p:nvSpPr>
        <p:spPr>
          <a:xfrm>
            <a:off x="292600" y="4086000"/>
            <a:ext cx="1371900" cy="2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rgbClr val="1F3763"/>
                </a:solidFill>
                <a:latin typeface="Manrope"/>
                <a:ea typeface="Manrope"/>
                <a:cs typeface="Manrope"/>
                <a:sym typeface="Manrope"/>
              </a:rPr>
              <a:t>Ledger automation for compliance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1792600" y="4356931"/>
            <a:ext cx="2492100" cy="12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Immutable trip-level ledger — Net Payable/Receivable (live)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FO/LSP wallets + overpayment settlement; automated TDS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rgbClr val="25303B"/>
                </a:solidFill>
                <a:latin typeface="Manrope"/>
                <a:ea typeface="Manrope"/>
                <a:cs typeface="Manrope"/>
                <a:sym typeface="Manrope"/>
              </a:rPr>
              <a:t>•  Ledger Phase-1 foundation (journal + payouts) live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6792600" y="4209135"/>
            <a:ext cx="2058900" cy="2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Trip Statement — 3-yr ledger tab in FO App (in build)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TDS rate + self-serve TDS declaration in FO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7160" lvl="0" marL="137160" marR="0" rtl="0" algn="l">
              <a:lnSpc>
                <a:spcPct val="102000"/>
              </a:lnSpc>
              <a:spcBef>
                <a:spcPts val="25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rPr b="0" i="0" lang="en" sz="819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›  LSP exposure limit; wallet auto-reconciliation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228600" y="3294438"/>
            <a:ext cx="8686800" cy="738000"/>
          </a:xfrm>
          <a:prstGeom prst="roundRect">
            <a:avLst>
              <a:gd fmla="val 8000" name="adj"/>
            </a:avLst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242400" y="705775"/>
            <a:ext cx="1491900" cy="295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en" sz="95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Project Goal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Picture 92" descr="j_row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400" y="2583000"/>
            <a:ext cx="2196200" cy="648000"/>
          </a:xfrm>
          <a:prstGeom prst="rect">
            <a:avLst/>
          </a:prstGeom>
        </p:spPr>
      </p:pic>
      <p:pic>
        <p:nvPicPr>
          <p:cNvPr id="94" name="Picture 93" descr="j_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pic>
        <p:nvPicPr>
          <p:cNvPr id="95" name="Picture 94" descr="j_row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9504" y="1838218"/>
            <a:ext cx="1652701" cy="712008"/>
          </a:xfrm>
          <a:prstGeom prst="rect">
            <a:avLst/>
          </a:prstGeom>
        </p:spPr>
      </p:pic>
      <p:pic>
        <p:nvPicPr>
          <p:cNvPr id="96" name="Picture 95" descr="j_row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56000" y="1018777"/>
            <a:ext cx="1765309" cy="73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