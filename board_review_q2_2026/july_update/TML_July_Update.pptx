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9"/>
  </p:sldIdLst>
  <p:sldSz cy="5143500" cx="9144000"/>
  <p:notesSz cx="6858000" cy="9144000"/>
  <p:embeddedFontLst>
    <p:embeddedFont>
      <p:font typeface="Manrope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Manrope-regular.fntdata"/><Relationship Id="rId8" Type="http://schemas.openxmlformats.org/officeDocument/2006/relationships/font" Target="fonts/Manrope-bold.fntdata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6cf35fc61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" name="Google Shape;56;g3f6cf35fc6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Bolder heading and tile effect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 1">
  <p:cSld name="One column 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5.png"/><Relationship Id="rId7" Type="http://schemas.openxmlformats.org/officeDocument/2006/relationships/image" Target="../media/image4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reight Tiger raises $6.5mn led by Mathew Cyriac's Florintree - Freight  Tiger" id="58" name="Google Shape;58;p14"/>
          <p:cNvPicPr preferRelativeResize="0"/>
          <p:nvPr/>
        </p:nvPicPr>
        <p:blipFill rotWithShape="1">
          <a:blip r:embed="rId3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9" name="Google Shape;59;p14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619964" y="4823621"/>
            <a:ext cx="5481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" name="Google Shape;61;p14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62" name="Google Shape;62;p14"/>
          <p:cNvSpPr txBox="1"/>
          <p:nvPr/>
        </p:nvSpPr>
        <p:spPr>
          <a:xfrm>
            <a:off x="228600" y="155000"/>
            <a:ext cx="78999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" sz="150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Product &amp; Tech Updates  —  Carrier Matching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228600" y="455000"/>
            <a:ext cx="8300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b="0" i="1" lang="en" sz="12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Steady Momentum; Pedal on Inventory Quality and Demand Fulfilment</a:t>
            </a:r>
            <a:endParaRPr b="1" i="1" sz="1200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1" sz="1000" u="none" cap="none" strike="noStrike">
              <a:solidFill>
                <a:srgbClr val="6B748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1768600" y="690000"/>
            <a:ext cx="2556000" cy="2955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PROGRESS  (thru Jul'26)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4388600" y="690000"/>
            <a:ext cx="2316000" cy="2955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TREND  (May–Jul'26)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6768600" y="690000"/>
            <a:ext cx="2122800" cy="2955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NEXT FOCUS  (Aug–Sept)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14"/>
          <p:cNvSpPr/>
          <p:nvPr/>
        </p:nvSpPr>
        <p:spPr>
          <a:xfrm>
            <a:off x="228600" y="1030000"/>
            <a:ext cx="8686800" cy="738000"/>
          </a:xfrm>
          <a:prstGeom prst="roundRect">
            <a:avLst>
              <a:gd fmla="val 8000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292600" y="1115587"/>
            <a:ext cx="13719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Drive FO App to 1,000 DAU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1792600" y="1064574"/>
            <a:ext cx="24921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POD details + payment status &amp; timelines in app</a:t>
            </a:r>
            <a:endParaRPr b="0" i="0" sz="800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Proactive POD dispute/deduction alerts + re-upload</a:t>
            </a:r>
            <a:endParaRPr b="0" i="0" sz="800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DAU 271 → 298 (+10%); MAU 1,377 → 1,573 (+14%)</a:t>
            </a:r>
            <a:endParaRPr b="0" i="0" sz="800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6792600" y="1045338"/>
            <a:ext cx="2058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Trip Statement — 3-yr ledger tab in FO App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TDS rate visibility + self-serve declaration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Ticketing for FOs not on app (WhatsApp/IVR)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4"/>
          <p:cNvSpPr/>
          <p:nvPr/>
        </p:nvSpPr>
        <p:spPr>
          <a:xfrm>
            <a:off x="228600" y="1784000"/>
            <a:ext cx="8686800" cy="7380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292600" y="1869587"/>
            <a:ext cx="13719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Improve demand fulfilment to 25%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1792600" y="1927899"/>
            <a:ext cx="24921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Near-match logic + match quality on demand list</a:t>
            </a:r>
            <a:endParaRPr b="0" i="0" sz="800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Supplier availability: lane-specific vs unavailable</a:t>
            </a:r>
            <a:endParaRPr b="0" i="0" sz="800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Agents onboarded (Clerk) for lane assignment</a:t>
            </a:r>
            <a:endParaRPr b="0" i="0" sz="800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4" name="Google Shape;74;p14"/>
          <p:cNvSpPr txBox="1"/>
          <p:nvPr/>
        </p:nvSpPr>
        <p:spPr>
          <a:xfrm>
            <a:off x="6792600" y="1887787"/>
            <a:ext cx="2058900" cy="25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Auto CRM alerts — bids / matches / approvals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Sort demand by Demand Actionability Score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Agentic AI calling for fulfilment agents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5" name="Google Shape;75;p14"/>
          <p:cNvSpPr/>
          <p:nvPr/>
        </p:nvSpPr>
        <p:spPr>
          <a:xfrm>
            <a:off x="228600" y="2538000"/>
            <a:ext cx="8686800" cy="738000"/>
          </a:xfrm>
          <a:prstGeom prst="roundRect">
            <a:avLst>
              <a:gd fmla="val 8000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292600" y="2578000"/>
            <a:ext cx="13719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Increase inventory by 50% (1,500/mo)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1792600" y="2578605"/>
            <a:ext cx="2492100" cy="67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 Automated AI calling for live &amp; potential inventory (multi-lang)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 WhatsApp fallback + callback; cooldown filtering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 AI drives ~65% of inventory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6792600" y="2701135"/>
            <a:ext cx="2058900" cy="25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›  Inventory creation on network lanes → 1,500/mo</a:t>
            </a:r>
            <a:endParaRPr b="0" i="0" sz="819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›  Improve inventory quality &amp; conversion</a:t>
            </a:r>
            <a:endParaRPr b="0" i="0" sz="819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80" name="Google Shape;80;p14"/>
          <p:cNvSpPr/>
          <p:nvPr/>
        </p:nvSpPr>
        <p:spPr>
          <a:xfrm>
            <a:off x="4550698" y="3316744"/>
            <a:ext cx="2058900" cy="7380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137160" lvl="0" marL="13716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00B050"/>
                </a:solidFill>
                <a:latin typeface="Manrope"/>
                <a:ea typeface="Manrope"/>
                <a:cs typeface="Manrope"/>
                <a:sym typeface="Manrope"/>
              </a:rPr>
              <a:t>~</a:t>
            </a:r>
            <a:r>
              <a:rPr b="0" i="0" lang="en" sz="900" u="none" cap="none" strike="noStrike">
                <a:solidFill>
                  <a:srgbClr val="00B050"/>
                </a:solidFill>
                <a:latin typeface="Manrope"/>
                <a:ea typeface="Manrope"/>
                <a:cs typeface="Manrope"/>
                <a:sym typeface="Manrope"/>
              </a:rPr>
              <a:t>20%</a:t>
            </a:r>
            <a:r>
              <a:rPr b="0" i="0" lang="en" sz="900" u="none" cap="none" strike="noStrike">
                <a:solidFill>
                  <a:srgbClr val="00B050"/>
                </a:solidFill>
                <a:latin typeface="Manrope"/>
                <a:ea typeface="Manrope"/>
                <a:cs typeface="Manrope"/>
                <a:sym typeface="Manrope"/>
              </a:rPr>
              <a:t> reduction in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ctr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00B050"/>
                </a:solidFill>
                <a:latin typeface="Manrope"/>
                <a:ea typeface="Manrope"/>
                <a:cs typeface="Manrope"/>
                <a:sym typeface="Manrope"/>
              </a:rPr>
              <a:t>City Team resource cost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4"/>
          <p:cNvSpPr txBox="1"/>
          <p:nvPr/>
        </p:nvSpPr>
        <p:spPr>
          <a:xfrm>
            <a:off x="292600" y="3437604"/>
            <a:ext cx="13719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Cost to serve reduction by 50%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4"/>
          <p:cNvSpPr txBox="1"/>
          <p:nvPr/>
        </p:nvSpPr>
        <p:spPr>
          <a:xfrm>
            <a:off x="1792600" y="3390854"/>
            <a:ext cx="2492100" cy="38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 Automated advance payments for Gold/Silver FOs (validation → approval → auto-release)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 WhatsApp-disconnect auto-reminders for CRM users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 Vahan verification &amp; journey updates in LSP WhatsApp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83" name="Google Shape;83;p14"/>
          <p:cNvSpPr txBox="1"/>
          <p:nvPr/>
        </p:nvSpPr>
        <p:spPr>
          <a:xfrm>
            <a:off x="6792600" y="3307338"/>
            <a:ext cx="2058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Runner App — POD collection + OCR audit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LSP App — self-serve trip/tracking/POD + tickets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Automate compliance document generation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14"/>
          <p:cNvSpPr/>
          <p:nvPr/>
        </p:nvSpPr>
        <p:spPr>
          <a:xfrm>
            <a:off x="228600" y="4046000"/>
            <a:ext cx="8686800" cy="738000"/>
          </a:xfrm>
          <a:prstGeom prst="roundRect">
            <a:avLst>
              <a:gd fmla="val 8000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4"/>
          <p:cNvSpPr txBox="1"/>
          <p:nvPr/>
        </p:nvSpPr>
        <p:spPr>
          <a:xfrm>
            <a:off x="292600" y="4086000"/>
            <a:ext cx="13719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Ledger automation for compliance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4"/>
          <p:cNvSpPr txBox="1"/>
          <p:nvPr/>
        </p:nvSpPr>
        <p:spPr>
          <a:xfrm>
            <a:off x="1792600" y="4356931"/>
            <a:ext cx="2492100" cy="12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Immutable trip-level ledger — Net Payable/Receivable (live)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FO/LSP wallets + overpayment settlement; automated TDS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Ledger Phase-1 foundation (journal + payouts) live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4"/>
          <p:cNvSpPr txBox="1"/>
          <p:nvPr/>
        </p:nvSpPr>
        <p:spPr>
          <a:xfrm>
            <a:off x="6792600" y="4209135"/>
            <a:ext cx="2058900" cy="25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Auto-calc &amp; reverse TDS; advance-pay auto-release (60%)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Payment fraud checks + LSP exposure limits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Self-serve balance payment for FOs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4"/>
          <p:cNvSpPr/>
          <p:nvPr/>
        </p:nvSpPr>
        <p:spPr>
          <a:xfrm>
            <a:off x="228600" y="3294438"/>
            <a:ext cx="8686800" cy="738000"/>
          </a:xfrm>
          <a:prstGeom prst="roundRect">
            <a:avLst>
              <a:gd fmla="val 8000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4"/>
          <p:cNvSpPr txBox="1"/>
          <p:nvPr/>
        </p:nvSpPr>
        <p:spPr>
          <a:xfrm>
            <a:off x="242400" y="705775"/>
            <a:ext cx="1491900" cy="2955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Project Goal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3" name="Picture 92" descr="j_row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400" y="2583000"/>
            <a:ext cx="2196200" cy="648000"/>
          </a:xfrm>
          <a:prstGeom prst="rect">
            <a:avLst/>
          </a:prstGeom>
        </p:spPr>
      </p:pic>
      <p:pic>
        <p:nvPicPr>
          <p:cNvPr id="94" name="Picture 93" descr="j_row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8412" y="4091000"/>
            <a:ext cx="2060375" cy="648000"/>
          </a:xfrm>
          <a:prstGeom prst="rect">
            <a:avLst/>
          </a:prstGeom>
        </p:spPr>
      </p:pic>
      <p:pic>
        <p:nvPicPr>
          <p:cNvPr id="95" name="Picture 94" descr="j_row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79504" y="1838218"/>
            <a:ext cx="1652701" cy="712008"/>
          </a:xfrm>
          <a:prstGeom prst="rect">
            <a:avLst/>
          </a:prstGeom>
        </p:spPr>
      </p:pic>
      <p:pic>
        <p:nvPicPr>
          <p:cNvPr id="96" name="Picture 95" descr="j_row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56000" y="1018777"/>
            <a:ext cx="1765309" cy="73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55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Next Focus — Aug–Sept'26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58000"/>
            <a:ext cx="868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B7480"/>
                </a:solidFill>
                <a:latin typeface="Manrope"/>
                <a:cs typeface="Manrope"/>
              </a:rPr>
              <a:t>15 initiatives across Finance/Ledger, Risk, Fulfilment, FO/LSP Experience &amp; Ops — bucketed with measurable outcomes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42398" y="662000"/>
            <a:ext cx="8616600" cy="0"/>
          </a:xfrm>
          <a:prstGeom prst="line">
            <a:avLst/>
          </a:prstGeom>
          <a:ln w="12700">
            <a:solidFill>
              <a:srgbClr val="D5DA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328" y="65382"/>
            <a:ext cx="821475" cy="355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B8BEC6"/>
                </a:solidFill>
                <a:latin typeface="Manrope"/>
                <a:cs typeface="Manrope"/>
              </a:rPr>
              <a:t>@FreightTiger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980000"/>
            <a:ext cx="2864933" cy="3320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6600" y="1002000"/>
            <a:ext cx="36000" cy="3276000"/>
          </a:xfrm>
          <a:prstGeom prst="roundRect">
            <a:avLst>
              <a:gd name="adj" fmla="val 4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8600" y="998000"/>
            <a:ext cx="2744933" cy="3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Finance Automation &amp; Ledger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25303B"/>
                </a:solidFill>
                <a:latin typeface="Manrope"/>
                <a:cs typeface="Manrope"/>
              </a:rPr>
              <a:t>Ledger Automation in CRM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720" b="0" i="1">
                <a:solidFill>
                  <a:srgbClr val="6B7480"/>
                </a:solidFill>
                <a:latin typeface="Manrope"/>
                <a:cs typeface="Manrope"/>
              </a:rPr>
              <a:t>100% trips carry immutable payment record; overpayment auto-settled to wallets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25303B"/>
                </a:solidFill>
                <a:latin typeface="Manrope"/>
                <a:cs typeface="Manrope"/>
              </a:rPr>
              <a:t>Auto-calculate TDS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720" b="0" i="1">
                <a:solidFill>
                  <a:srgbClr val="6B7480"/>
                </a:solidFill>
                <a:latin typeface="Manrope"/>
                <a:cs typeface="Manrope"/>
              </a:rPr>
              <a:t>100% trips system-calculated; ~0 error rate; 60 hrs/mo ops saved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25303B"/>
                </a:solidFill>
                <a:latin typeface="Manrope"/>
                <a:cs typeface="Manrope"/>
              </a:rPr>
              <a:t>Automated Advance Payment (Gold/Silver FOs)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720" b="0" i="1">
                <a:solidFill>
                  <a:srgbClr val="6B7480"/>
                </a:solidFill>
                <a:latin typeface="Manrope"/>
                <a:cs typeface="Manrope"/>
              </a:rPr>
              <a:t>60% auto-released; disbursal TAT → 2 hrs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25303B"/>
                </a:solidFill>
                <a:latin typeface="Manrope"/>
                <a:cs typeface="Manrope"/>
              </a:rPr>
              <a:t>Automate compliance document generation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720" b="0" i="1">
                <a:solidFill>
                  <a:srgbClr val="6B7480"/>
                </a:solidFill>
                <a:latin typeface="Manrope"/>
                <a:cs typeface="Manrope"/>
              </a:rPr>
              <a:t>100% auto-generated; 60 hrs/mo saved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25303B"/>
                </a:solidFill>
                <a:latin typeface="Manrope"/>
                <a:cs typeface="Manrope"/>
              </a:rPr>
              <a:t>Balance payment automation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720" b="0" i="1">
                <a:solidFill>
                  <a:srgbClr val="6B7480"/>
                </a:solidFill>
                <a:latin typeface="Manrope"/>
                <a:cs typeface="Manrope"/>
              </a:rPr>
              <a:t>60% self-initiated by FO; fewer ops touchpoints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9533" y="980000"/>
            <a:ext cx="2864933" cy="1956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57533" y="1002000"/>
            <a:ext cx="36000" cy="1912000"/>
          </a:xfrm>
          <a:prstGeom prst="roundRect">
            <a:avLst>
              <a:gd name="adj" fmla="val 4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9533" y="998000"/>
            <a:ext cx="2744933" cy="19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26815C"/>
                </a:solidFill>
                <a:latin typeface="Manrope"/>
                <a:cs typeface="Manrope"/>
              </a:rPr>
              <a:t>Fulfilment &amp; Demand Intelligence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25303B"/>
                </a:solidFill>
                <a:latin typeface="Manrope"/>
                <a:cs typeface="Manrope"/>
              </a:rPr>
              <a:t>Auto CRM alerts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720" b="0" i="1">
                <a:solidFill>
                  <a:srgbClr val="6B7480"/>
                </a:solidFill>
                <a:latin typeface="Manrope"/>
                <a:cs typeface="Manrope"/>
              </a:rPr>
              <a:t>bids received / inventory matched / approval assigned — faster time-to-action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25303B"/>
                </a:solidFill>
                <a:latin typeface="Manrope"/>
                <a:cs typeface="Manrope"/>
              </a:rPr>
              <a:t>Sort demand by Demand Actionability Score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720" b="0" i="1">
                <a:solidFill>
                  <a:srgbClr val="6B7480"/>
                </a:solidFill>
                <a:latin typeface="Manrope"/>
                <a:cs typeface="Manrope"/>
              </a:rPr>
              <a:t>more agent time on placeable loads; faster placement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25303B"/>
                </a:solidFill>
                <a:latin typeface="Manrope"/>
                <a:cs typeface="Manrope"/>
              </a:rPr>
              <a:t>Agentic AI calling for fulfilment agents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720" b="0" i="1">
                <a:solidFill>
                  <a:srgbClr val="6B7480"/>
                </a:solidFill>
                <a:latin typeface="Manrope"/>
                <a:cs typeface="Manrope"/>
              </a:rPr>
              <a:t>calls automated at scale; cost/call ↓; conversion 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39533" y="2996000"/>
            <a:ext cx="2864933" cy="1304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57533" y="3018000"/>
            <a:ext cx="36000" cy="1260000"/>
          </a:xfrm>
          <a:prstGeom prst="roundRect">
            <a:avLst>
              <a:gd name="adj" fmla="val 4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9533" y="3014000"/>
            <a:ext cx="2744933" cy="12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6043A3"/>
                </a:solidFill>
                <a:latin typeface="Manrope"/>
                <a:cs typeface="Manrope"/>
              </a:rPr>
              <a:t>FO App Transparency &amp; Self-Serve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25303B"/>
                </a:solidFill>
                <a:latin typeface="Manrope"/>
                <a:cs typeface="Manrope"/>
              </a:rPr>
              <a:t>Trip Statement — 3-yr ledger tab in FO App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720" b="0" i="1">
                <a:solidFill>
                  <a:srgbClr val="6B7480"/>
                </a:solidFill>
                <a:latin typeface="Manrope"/>
                <a:cs typeface="Manrope"/>
              </a:rPr>
              <a:t>statement views ↑; fewer payment-status tickets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25303B"/>
                </a:solidFill>
                <a:latin typeface="Manrope"/>
                <a:cs typeface="Manrope"/>
              </a:rPr>
              <a:t>TDS rate visibility + self-serve declaration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720" b="0" i="1">
                <a:solidFill>
                  <a:srgbClr val="6B7480"/>
                </a:solidFill>
                <a:latin typeface="Manrope"/>
                <a:cs typeface="Manrope"/>
              </a:rPr>
              <a:t>% FOs self-serving TDS ↑; fewer TDS tickets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50466" y="980000"/>
            <a:ext cx="2864933" cy="1256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68466" y="1002000"/>
            <a:ext cx="36000" cy="1212000"/>
          </a:xfrm>
          <a:prstGeom prst="roundRect">
            <a:avLst>
              <a:gd name="adj" fmla="val 40000"/>
            </a:avLst>
          </a:prstGeom>
          <a:solidFill>
            <a:srgbClr val="9C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0466" y="998000"/>
            <a:ext cx="2744933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9C2B2B"/>
                </a:solidFill>
                <a:latin typeface="Manrope"/>
                <a:cs typeface="Manrope"/>
              </a:rPr>
              <a:t>Risk, Fraud &amp; Exposure Control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25303B"/>
                </a:solidFill>
                <a:latin typeface="Manrope"/>
                <a:cs typeface="Manrope"/>
              </a:rPr>
              <a:t>Payment fraud checks (FO / user / bank-detail change)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720" b="0" i="1">
                <a:solidFill>
                  <a:srgbClr val="6B7480"/>
                </a:solidFill>
                <a:latin typeface="Manrope"/>
                <a:cs typeface="Manrope"/>
              </a:rPr>
              <a:t>100% payments fraud-screened; releases blocked pre-disbursal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25303B"/>
                </a:solidFill>
                <a:latin typeface="Manrope"/>
                <a:cs typeface="Manrope"/>
              </a:rPr>
              <a:t>Configurable LSP exposure limit + auto-disable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720" b="0" i="1">
                <a:solidFill>
                  <a:srgbClr val="6B7480"/>
                </a:solidFill>
                <a:latin typeface="Manrope"/>
                <a:cs typeface="Manrope"/>
              </a:rPr>
              <a:t>breaches auto-caught &amp; actioned; lower bad-debt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50466" y="2296000"/>
            <a:ext cx="2864933" cy="628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068466" y="2318000"/>
            <a:ext cx="36000" cy="584000"/>
          </a:xfrm>
          <a:prstGeom prst="roundRect">
            <a:avLst>
              <a:gd name="adj" fmla="val 4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0466" y="2314000"/>
            <a:ext cx="2744933" cy="5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0F766E"/>
                </a:solidFill>
                <a:latin typeface="Manrope"/>
                <a:cs typeface="Manrope"/>
              </a:rPr>
              <a:t>POD Collection &amp; Audit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25303B"/>
                </a:solidFill>
                <a:latin typeface="Manrope"/>
                <a:cs typeface="Manrope"/>
              </a:rPr>
              <a:t>Runner App/Mobile page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720" b="0" i="1">
                <a:solidFill>
                  <a:srgbClr val="6B7480"/>
                </a:solidFill>
                <a:latin typeface="Manrope"/>
                <a:cs typeface="Manrope"/>
              </a:rPr>
              <a:t>Hard-POD TAT ↓ ≥20%; OCR-audited PODs; faster dispute resolution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50466" y="2984000"/>
            <a:ext cx="2864933" cy="628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68466" y="3006000"/>
            <a:ext cx="36000" cy="584000"/>
          </a:xfrm>
          <a:prstGeom prst="roundRect">
            <a:avLst>
              <a:gd name="adj" fmla="val 40000"/>
            </a:avLst>
          </a:prstGeom>
          <a:solidFill>
            <a:srgbClr val="1D6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30466" y="3002000"/>
            <a:ext cx="2744933" cy="5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1D6FA5"/>
                </a:solidFill>
                <a:latin typeface="Manrope"/>
                <a:cs typeface="Manrope"/>
              </a:rPr>
              <a:t>LSP Experience &amp; Visibility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25303B"/>
                </a:solidFill>
                <a:latin typeface="Manrope"/>
                <a:cs typeface="Manrope"/>
              </a:rPr>
              <a:t>LSP App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720" b="0" i="1">
                <a:solidFill>
                  <a:srgbClr val="6B7480"/>
                </a:solidFill>
                <a:latin typeface="Manrope"/>
                <a:cs typeface="Manrope"/>
              </a:rPr>
              <a:t>self-serve trip/tracking/POD status + ticketing; fewer inbound status calls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50466" y="3672000"/>
            <a:ext cx="2864933" cy="628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068466" y="3694000"/>
            <a:ext cx="36000" cy="584000"/>
          </a:xfrm>
          <a:prstGeom prst="roundRect">
            <a:avLst>
              <a:gd name="adj" fmla="val 4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30466" y="3690000"/>
            <a:ext cx="2744933" cy="5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C77D0A"/>
                </a:solidFill>
                <a:latin typeface="Manrope"/>
                <a:cs typeface="Manrope"/>
              </a:rPr>
              <a:t>Support &amp; Ops Automation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25303B"/>
                </a:solidFill>
                <a:latin typeface="Manrope"/>
                <a:cs typeface="Manrope"/>
              </a:rPr>
              <a:t>Ticketing for FOs not on the app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720" b="0" i="1">
                <a:solidFill>
                  <a:srgbClr val="6B7480"/>
                </a:solidFill>
                <a:latin typeface="Manrope"/>
                <a:cs typeface="Manrope"/>
              </a:rPr>
              <a:t>WhatsApp/IVR/agent — broader off-app support coverage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