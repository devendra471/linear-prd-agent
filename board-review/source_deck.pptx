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Manrope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E02122-0968-4535-85BE-7FB82C2E50CA}">
  <a:tblStyle styleId="{EEE02122-0968-4535-85BE-7FB82C2E50CA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0097A7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0097A7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Manrope-bold.fntdata"/><Relationship Id="rId10" Type="http://schemas.openxmlformats.org/officeDocument/2006/relationships/font" Target="fonts/Manrope-regular.fntdata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0d7927554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0d792755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Bolder heading and tile effect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b821143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7b82114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/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0" type="dt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79769" y="1649667"/>
            <a:ext cx="4771285" cy="317211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0"/>
          <p:cNvSpPr txBox="1"/>
          <p:nvPr>
            <p:ph type="title"/>
          </p:nvPr>
        </p:nvSpPr>
        <p:spPr>
          <a:xfrm>
            <a:off x="524290" y="1678806"/>
            <a:ext cx="35457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524290" y="2494073"/>
            <a:ext cx="35457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20"/>
          <p:cNvSpPr txBox="1"/>
          <p:nvPr/>
        </p:nvSpPr>
        <p:spPr>
          <a:xfrm>
            <a:off x="4810011" y="2246105"/>
            <a:ext cx="98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BOLD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Taking calculated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r>
              <a:rPr b="1" i="0" lang="en" sz="8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key to making progress. We act with confidence and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agility</a:t>
            </a:r>
            <a:r>
              <a:rPr b="0" i="0" lang="en" sz="8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accomplish our goals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0"/>
          <p:cNvSpPr txBox="1"/>
          <p:nvPr/>
        </p:nvSpPr>
        <p:spPr>
          <a:xfrm>
            <a:off x="6036653" y="2229764"/>
            <a:ext cx="12663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 IT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Feeling and acting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empowered</a:t>
            </a: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critical to drive results.  We have an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Owner’s Mind-set</a:t>
            </a: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each of us takes full responsibility for the outcomes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0"/>
          <p:cNvSpPr txBox="1"/>
          <p:nvPr/>
        </p:nvSpPr>
        <p:spPr>
          <a:xfrm>
            <a:off x="4810011" y="3313406"/>
            <a:ext cx="12267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TOGETHER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Leveraging our collective genius while holding each other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accountable</a:t>
            </a: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helps us deliver the best. We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collaborate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proactively and transparently to achieve innovative solutions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0"/>
          <p:cNvSpPr txBox="1"/>
          <p:nvPr/>
        </p:nvSpPr>
        <p:spPr>
          <a:xfrm>
            <a:off x="6049221" y="3313406"/>
            <a:ext cx="11574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EMPATHETIC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Embracing diversity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makes us stronger for differences are opportunities to learn. We work with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passion to delight customers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deliver greater success to our stakeholders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20"/>
          <p:cNvCxnSpPr/>
          <p:nvPr/>
        </p:nvCxnSpPr>
        <p:spPr>
          <a:xfrm>
            <a:off x="4886324" y="3191142"/>
            <a:ext cx="230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"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996853" y="2211173"/>
            <a:ext cx="0" cy="2193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"/>
            <a:headEnd len="sm" w="sm" type="none"/>
            <a:tailEnd len="sm" w="sm" type="none"/>
          </a:ln>
        </p:spPr>
      </p:cxnSp>
      <p:sp>
        <p:nvSpPr>
          <p:cNvPr id="85" name="Google Shape;85;p20"/>
          <p:cNvSpPr txBox="1"/>
          <p:nvPr/>
        </p:nvSpPr>
        <p:spPr>
          <a:xfrm>
            <a:off x="4248872" y="931441"/>
            <a:ext cx="3495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TATA MOTORS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connecting aspirations by being bold in thought and action,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owning every opportunity and challenge, Solving together as one team and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engaging all our stakeholders with empathy.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</a:t>
            </a: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WHEN ONE!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0"/>
          <p:cNvSpPr txBox="1"/>
          <p:nvPr/>
        </p:nvSpPr>
        <p:spPr>
          <a:xfrm>
            <a:off x="5020696" y="636389"/>
            <a:ext cx="1952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CULTURE CREDO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ine" showMasterSp="0">
  <p:cSld name="Agenda Line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Image result for tata logo" id="89" name="Google Shape;8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8751" y="122928"/>
            <a:ext cx="601161" cy="55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132" y="4935048"/>
            <a:ext cx="1857199" cy="1214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1"/>
          <p:cNvSpPr txBox="1"/>
          <p:nvPr/>
        </p:nvSpPr>
        <p:spPr>
          <a:xfrm>
            <a:off x="8738821" y="4935047"/>
            <a:ext cx="144900" cy="1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94750" y="4838748"/>
            <a:ext cx="54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0" lvl="1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0" lvl="2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0" lvl="3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0" lvl="4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0" lvl="5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0" lvl="6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0" lvl="7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0" lvl="8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4000" y="916175"/>
            <a:ext cx="8578800" cy="3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190600" y="20133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Product &amp; Tech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Updates</a:t>
            </a:r>
            <a:r>
              <a:rPr lang="en" sz="17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- </a:t>
            </a: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Carrier Matching</a:t>
            </a:r>
            <a:endParaRPr sz="1700">
              <a:solidFill>
                <a:srgbClr val="98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b="0" lang="en" sz="1200">
                <a:latin typeface="Manrope"/>
                <a:ea typeface="Manrope"/>
                <a:cs typeface="Manrope"/>
                <a:sym typeface="Manrope"/>
              </a:rPr>
              <a:t>Steady Momentum; Pedal on Inventory Quality and Demand Fulfilment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23"/>
          <p:cNvSpPr/>
          <p:nvPr/>
        </p:nvSpPr>
        <p:spPr>
          <a:xfrm>
            <a:off x="288036" y="716661"/>
            <a:ext cx="1748700" cy="185100"/>
          </a:xfrm>
          <a:prstGeom prst="roundRect">
            <a:avLst>
              <a:gd fmla="val 18519" name="adj"/>
            </a:avLst>
          </a:prstGeom>
          <a:solidFill>
            <a:srgbClr val="1F3763"/>
          </a:solidFill>
          <a:ln cap="flat" cmpd="sng" w="12700">
            <a:solidFill>
              <a:srgbClr val="1F37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3"/>
          <p:cNvSpPr/>
          <p:nvPr/>
        </p:nvSpPr>
        <p:spPr>
          <a:xfrm>
            <a:off x="288036" y="747522"/>
            <a:ext cx="1748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PROJECT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" name="Google Shape;103;p23"/>
          <p:cNvSpPr/>
          <p:nvPr/>
        </p:nvSpPr>
        <p:spPr>
          <a:xfrm>
            <a:off x="2125980" y="716661"/>
            <a:ext cx="3806100" cy="185100"/>
          </a:xfrm>
          <a:prstGeom prst="roundRect">
            <a:avLst>
              <a:gd fmla="val 18519" name="adj"/>
            </a:avLst>
          </a:prstGeom>
          <a:solidFill>
            <a:srgbClr val="26815C"/>
          </a:solidFill>
          <a:ln cap="flat" cmpd="sng" w="12700">
            <a:solidFill>
              <a:srgbClr val="26815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3"/>
          <p:cNvSpPr/>
          <p:nvPr/>
        </p:nvSpPr>
        <p:spPr>
          <a:xfrm>
            <a:off x="2125980" y="747522"/>
            <a:ext cx="380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</a:t>
            </a:r>
            <a:r>
              <a:rPr b="1" lang="en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</a:t>
            </a:r>
            <a:r>
              <a:rPr b="1" i="0" lang="en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 TREND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" name="Google Shape;105;p23"/>
          <p:cNvSpPr/>
          <p:nvPr/>
        </p:nvSpPr>
        <p:spPr>
          <a:xfrm>
            <a:off x="6089904" y="716661"/>
            <a:ext cx="2757000" cy="185100"/>
          </a:xfrm>
          <a:prstGeom prst="roundRect">
            <a:avLst>
              <a:gd fmla="val 18519" name="adj"/>
            </a:avLst>
          </a:prstGeom>
          <a:solidFill>
            <a:srgbClr val="6043A3"/>
          </a:solidFill>
          <a:ln cap="flat" cmpd="sng" w="12700">
            <a:solidFill>
              <a:srgbClr val="6043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3"/>
          <p:cNvSpPr/>
          <p:nvPr/>
        </p:nvSpPr>
        <p:spPr>
          <a:xfrm>
            <a:off x="6089904" y="747522"/>
            <a:ext cx="2757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Apr-May-June</a:t>
            </a:r>
            <a:r>
              <a:rPr b="1" i="0" lang="en" sz="8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 PROGRESS / NEXT FOCUS</a:t>
            </a:r>
            <a:endParaRPr b="1" i="0" sz="80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" name="Google Shape;107;p23"/>
          <p:cNvSpPr/>
          <p:nvPr/>
        </p:nvSpPr>
        <p:spPr>
          <a:xfrm>
            <a:off x="288036" y="977265"/>
            <a:ext cx="1748700" cy="843600"/>
          </a:xfrm>
          <a:prstGeom prst="roundRect">
            <a:avLst>
              <a:gd fmla="val 1626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3"/>
          <p:cNvSpPr/>
          <p:nvPr/>
        </p:nvSpPr>
        <p:spPr>
          <a:xfrm>
            <a:off x="2125980" y="977265"/>
            <a:ext cx="3806100" cy="843600"/>
          </a:xfrm>
          <a:prstGeom prst="roundRect">
            <a:avLst>
              <a:gd fmla="val 1626" name="adj"/>
            </a:avLst>
          </a:prstGeom>
          <a:solidFill>
            <a:srgbClr val="F1FBF6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3"/>
          <p:cNvSpPr/>
          <p:nvPr/>
        </p:nvSpPr>
        <p:spPr>
          <a:xfrm>
            <a:off x="6089904" y="977265"/>
            <a:ext cx="2757000" cy="843600"/>
          </a:xfrm>
          <a:prstGeom prst="roundRect">
            <a:avLst>
              <a:gd fmla="val 1626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288036" y="1889379"/>
            <a:ext cx="1748700" cy="900000"/>
          </a:xfrm>
          <a:prstGeom prst="roundRect">
            <a:avLst>
              <a:gd fmla="val 1220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/>
          <p:nvPr/>
        </p:nvSpPr>
        <p:spPr>
          <a:xfrm>
            <a:off x="2125980" y="1889379"/>
            <a:ext cx="3806100" cy="900000"/>
          </a:xfrm>
          <a:prstGeom prst="roundRect">
            <a:avLst>
              <a:gd fmla="val 1220" name="adj"/>
            </a:avLst>
          </a:prstGeom>
          <a:solidFill>
            <a:srgbClr val="F1FBF5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/>
          <p:nvPr/>
        </p:nvSpPr>
        <p:spPr>
          <a:xfrm>
            <a:off x="6089904" y="1889379"/>
            <a:ext cx="2757000" cy="900000"/>
          </a:xfrm>
          <a:prstGeom prst="roundRect">
            <a:avLst>
              <a:gd fmla="val 1220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288036" y="2826379"/>
            <a:ext cx="1748700" cy="898500"/>
          </a:xfrm>
          <a:prstGeom prst="roundRect">
            <a:avLst>
              <a:gd fmla="val 1527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2125980" y="2826379"/>
            <a:ext cx="3806100" cy="898500"/>
          </a:xfrm>
          <a:prstGeom prst="roundRect">
            <a:avLst>
              <a:gd fmla="val 1527" name="adj"/>
            </a:avLst>
          </a:prstGeom>
          <a:solidFill>
            <a:srgbClr val="F1FBF5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6089904" y="2826379"/>
            <a:ext cx="2757000" cy="898500"/>
          </a:xfrm>
          <a:prstGeom prst="roundRect">
            <a:avLst>
              <a:gd fmla="val 1527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288036" y="3761879"/>
            <a:ext cx="1748700" cy="78000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2125980" y="3761879"/>
            <a:ext cx="3806100" cy="780000"/>
          </a:xfrm>
          <a:prstGeom prst="roundRect">
            <a:avLst>
              <a:gd fmla="val 1613" name="adj"/>
            </a:avLst>
          </a:prstGeom>
          <a:solidFill>
            <a:srgbClr val="F1FBF5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6089904" y="3761879"/>
            <a:ext cx="2757000" cy="78000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397764" y="1093851"/>
            <a:ext cx="15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Drive FO App to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2,000 DAU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397764" y="1471041"/>
            <a:ext cx="1543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Better load experience &amp; payment visibility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2249424" y="1086993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DAU 178 → 200 (+12%)</a:t>
            </a:r>
            <a:endParaRPr b="0" i="0" sz="9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2249424" y="1279017"/>
            <a:ext cx="1440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Installs +5%  |  MAU +6%</a:t>
            </a:r>
            <a:endParaRPr b="0" i="0" sz="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/mnt/data/chart_dau.png" id="123" name="Google Shape;1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2538" y="903832"/>
            <a:ext cx="2114562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/>
          <p:nvPr/>
        </p:nvSpPr>
        <p:spPr>
          <a:xfrm>
            <a:off x="6243925" y="1135000"/>
            <a:ext cx="2427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FO App adoption climbing; DAU crossed the 200 mark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Installs 979 → 1,526; MAU 717 → 1,093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397764" y="1985391"/>
            <a:ext cx="1543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Improve demand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fulfilment rate to 50%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397764" y="2424303"/>
            <a:ext cx="1543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Matching, bid ranges &amp; real-time visibility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2249425" y="1964825"/>
            <a:ext cx="2086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Placeable fulfilment</a:t>
            </a:r>
            <a:endParaRPr b="0" i="0" sz="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31% → 29.3%</a:t>
            </a:r>
            <a:endParaRPr b="0" i="0" sz="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2266980" y="2246003"/>
            <a:ext cx="1302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Bids 670 → 493</a:t>
            </a:r>
            <a:endParaRPr b="0" i="0" sz="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/mnt/data/chart_fulfillment.png" id="129" name="Google Shape;1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15" y="1966062"/>
            <a:ext cx="2197521" cy="7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/>
          <p:nvPr/>
        </p:nvSpPr>
        <p:spPr>
          <a:xfrm>
            <a:off x="6256591" y="2026539"/>
            <a:ext cx="2427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Placeable fulfilment held ~29% (slight dip vs Apr’s 31%)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FO Bids dipped 670 → 493, but bid → trips conversion jumped 19 → 35 (+84%)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Lift placement on inventory &amp; FO bids; rebuild bid volume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397764" y="2929249"/>
            <a:ext cx="15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Increase inventory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by 50% (1500/month)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397764" y="3361303"/>
            <a:ext cx="1543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Via automated agentic calling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2249425" y="2888109"/>
            <a:ext cx="1243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AI inventory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728 → 1043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2249425" y="3027754"/>
            <a:ext cx="144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Manual inventory</a:t>
            </a:r>
            <a:r>
              <a:rPr b="0" i="0" lang="en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1098→ 303</a:t>
            </a:r>
            <a:endParaRPr b="0" i="0" sz="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2231450" y="3320207"/>
            <a:ext cx="120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Inventory fulfilled: </a:t>
            </a:r>
            <a:endParaRPr b="0" i="0" sz="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23.9%  → 13.8% </a:t>
            </a:r>
            <a:endParaRPr b="0" i="0" sz="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/mnt/data/chart_inventory.png" id="136" name="Google Shape;1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225" y="2860657"/>
            <a:ext cx="2086500" cy="85088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>
            <a:off x="6231250" y="2927624"/>
            <a:ext cx="24276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AI now drives ~77% of inventory created (1,043 of 1,346)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But total inventory created &amp; conversion fell (23.9% → 13.8%) — quality is the gap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Inventory quality —Automate  best time to call, power-lane proximity, FO filtering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397764" y="3857891"/>
            <a:ext cx="15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Cost to serve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reduction by 70%</a:t>
            </a:r>
            <a:endParaRPr b="0" i="0" sz="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397764" y="4276229"/>
            <a:ext cx="1543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67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Automate ops processes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2249425" y="3849800"/>
            <a:ext cx="35661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Launched automated Vahan verification and updates in LSP WhatsApp</a:t>
            </a:r>
            <a:b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Saves ~10 hours of City Team effort daily</a:t>
            </a:r>
            <a:b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15% reduction in CT resource cost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D6675"/>
              </a:buClr>
              <a:buSzPts val="9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6281925" y="3851025"/>
            <a:ext cx="2514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•Improved adoption of automated Vahan verification and journey updates in LSP WhatsApp groups [May]</a:t>
            </a:r>
            <a:b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•Next - Next: FO document collection via app-based payment incentives, AI CT for SIM consent automation, and transit delay detection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Freight Tiger raises $6.5mn led by Mathew Cyriac's Florintree - Freight  Tiger" id="142" name="Google Shape;142;p23"/>
          <p:cNvPicPr preferRelativeResize="0"/>
          <p:nvPr/>
        </p:nvPicPr>
        <p:blipFill rotWithShape="1">
          <a:blip r:embed="rId6">
            <a:alphaModFix/>
          </a:blip>
          <a:srcRect b="11241" l="0" r="21086" t="14115"/>
          <a:stretch/>
        </p:blipFill>
        <p:spPr>
          <a:xfrm>
            <a:off x="8247328" y="65382"/>
            <a:ext cx="821475" cy="3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3"/>
          <p:cNvCxnSpPr/>
          <p:nvPr/>
        </p:nvCxnSpPr>
        <p:spPr>
          <a:xfrm>
            <a:off x="242398" y="642473"/>
            <a:ext cx="861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3"/>
          <p:cNvSpPr/>
          <p:nvPr/>
        </p:nvSpPr>
        <p:spPr>
          <a:xfrm>
            <a:off x="288036" y="4578879"/>
            <a:ext cx="1748700" cy="51990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2125980" y="4578879"/>
            <a:ext cx="3806100" cy="519900"/>
          </a:xfrm>
          <a:prstGeom prst="roundRect">
            <a:avLst>
              <a:gd fmla="val 1613" name="adj"/>
            </a:avLst>
          </a:prstGeom>
          <a:solidFill>
            <a:srgbClr val="FFF2CC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Initiative picked in June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6089904" y="4578879"/>
            <a:ext cx="2757000" cy="519900"/>
          </a:xfrm>
          <a:prstGeom prst="roundRect">
            <a:avLst>
              <a:gd fmla="val 1613" name="adj"/>
            </a:avLst>
          </a:prstGeom>
          <a:solidFill>
            <a:srgbClr val="FFFFFF"/>
          </a:solidFill>
          <a:ln cap="flat" cmpd="sng" w="9525">
            <a:solidFill>
              <a:srgbClr val="D6DEE8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397764" y="4648879"/>
            <a:ext cx="1543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Ledger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to meet 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397764" y="4924879"/>
            <a:ext cx="1543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Trip &amp; party-level ledger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6281928" y="4658879"/>
            <a:ext cx="2427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•Build trip-level and party-level ledgers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•Introduce wallet-based auto-reconciliation across trips</a:t>
            </a:r>
            <a:endParaRPr b="0" i="0" sz="7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619964" y="4823621"/>
            <a:ext cx="54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700"/>
              <a:t>‹#›</a:t>
            </a:fld>
            <a:endParaRPr sz="700"/>
          </a:p>
        </p:txBody>
      </p:sp>
      <p:sp>
        <p:nvSpPr>
          <p:cNvPr id="151" name="Google Shape;151;p23"/>
          <p:cNvSpPr txBox="1"/>
          <p:nvPr/>
        </p:nvSpPr>
        <p:spPr>
          <a:xfrm>
            <a:off x="7182075" y="4905000"/>
            <a:ext cx="1652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latin typeface="Manrope"/>
                <a:ea typeface="Manrope"/>
                <a:cs typeface="Manrope"/>
                <a:sym typeface="Manrope"/>
              </a:rPr>
              <a:t>@FreightTiger confidential</a:t>
            </a:r>
            <a:endParaRPr b="0" i="0" sz="800" u="none" cap="none" strike="noStrike">
              <a:solidFill>
                <a:srgbClr val="D9D9D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4957011" y="41638"/>
            <a:ext cx="3537300" cy="307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Product/Tech team to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24"/>
          <p:cNvGraphicFramePr/>
          <p:nvPr/>
        </p:nvGraphicFramePr>
        <p:xfrm>
          <a:off x="242400" y="6432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{EEE02122-0968-4535-85BE-7FB82C2E50CA}</a:tableStyleId>
              </a:tblPr>
              <a:tblGrid>
                <a:gridCol w="1159675"/>
                <a:gridCol w="1833825"/>
                <a:gridCol w="849825"/>
                <a:gridCol w="802275"/>
                <a:gridCol w="3971000"/>
              </a:tblGrid>
              <a:tr h="28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Customer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Stage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ETA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MRR 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(INR Lacs)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Comments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Novoco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Live 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May 4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8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Pidilite Phase 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       May 7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Existing customer, no additional MRR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MSP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sng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Apr 25</a:t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May 22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0.5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Pittie Group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3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Client development is in progress. Awaiting development completion timelines from the client to finalize the go-live date.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TCPL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sng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May 15</a:t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June 15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3.5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Timeline shifted due to expanded scope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Diageo Phase 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UAT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Jun 29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UAT 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Tata Bluescope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Partially 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NA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2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Live with 8 locations. 1 plant go live pending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Kajaria Ceramics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Kick Off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2.7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The project kick-off initiated on 5th June,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JSW Steel plant addition 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Kick Off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New Plants addition via Integration we got approval from JSW Management Kickoff call with JSW IT is scheduled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BASF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Aug 18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Solutioning and dev running in parallel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Freight Tiger raises $6.5mn led by Mathew Cyriac's Florintree - Freight  Tiger" id="158" name="Google Shape;158;p24"/>
          <p:cNvPicPr preferRelativeResize="0"/>
          <p:nvPr/>
        </p:nvPicPr>
        <p:blipFill rotWithShape="1">
          <a:blip r:embed="rId3">
            <a:alphaModFix/>
          </a:blip>
          <a:srcRect b="11241" l="0" r="21086" t="14115"/>
          <a:stretch/>
        </p:blipFill>
        <p:spPr>
          <a:xfrm>
            <a:off x="8247328" y="65382"/>
            <a:ext cx="821475" cy="3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4"/>
          <p:cNvCxnSpPr/>
          <p:nvPr/>
        </p:nvCxnSpPr>
        <p:spPr>
          <a:xfrm>
            <a:off x="242398" y="642473"/>
            <a:ext cx="861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4"/>
          <p:cNvSpPr txBox="1"/>
          <p:nvPr>
            <p:ph type="title"/>
          </p:nvPr>
        </p:nvSpPr>
        <p:spPr>
          <a:xfrm>
            <a:off x="190600" y="20133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Customer Integrations</a:t>
            </a:r>
            <a:endParaRPr sz="1700">
              <a:solidFill>
                <a:srgbClr val="98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b="0" lang="en" sz="1200">
                <a:latin typeface="Manrope"/>
                <a:ea typeface="Manrope"/>
                <a:cs typeface="Manrope"/>
                <a:sym typeface="Manrope"/>
              </a:rPr>
              <a:t>In progress integrations and their current statuses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7182075" y="4905000"/>
            <a:ext cx="1652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latin typeface="Manrope"/>
                <a:ea typeface="Manrope"/>
                <a:cs typeface="Manrope"/>
                <a:sym typeface="Manrope"/>
              </a:rPr>
              <a:t>@FreightTiger confidential</a:t>
            </a:r>
            <a:endParaRPr b="0" i="0" sz="800" u="none" cap="none" strike="noStrike">
              <a:solidFill>
                <a:srgbClr val="D9D9D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957011" y="41638"/>
            <a:ext cx="3537300" cy="307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Product/Tech team to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A90"/>
      </a:accent1>
      <a:accent2>
        <a:srgbClr val="48A1FA"/>
      </a:accent2>
      <a:accent3>
        <a:srgbClr val="85C0FB"/>
      </a:accent3>
      <a:accent4>
        <a:srgbClr val="5B9BD5"/>
      </a:accent4>
      <a:accent5>
        <a:srgbClr val="7B7B7B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