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5"/>
    <p:sldMasterId id="2147483669" r:id="rId6"/>
  </p:sldMasterIdLst>
  <p:notesMasterIdLst>
    <p:notesMasterId r:id="rId7"/>
  </p:notesMasterIdLst>
  <p:sldIdLst>
    <p:sldId id="256" r:id="rId8"/>
    <p:sldId id="257" r:id="rId9"/>
  </p:sldIdLst>
  <p:sldSz cy="5143500" cx="9144000"/>
  <p:notesSz cx="6858000" cy="9144000"/>
  <p:embeddedFontLst>
    <p:embeddedFont>
      <p:font typeface="Manrope"/>
      <p:regular r:id="rId10"/>
      <p:bold r:id="rId1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EE02122-0968-4535-85BE-7FB82C2E50CA}">
  <a:tblStyle styleId="{EEE02122-0968-4535-85BE-7FB82C2E50CA}" styleName="Table_0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0097A7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0097A7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508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254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font" Target="fonts/Manrope-regular.fntdata"/><Relationship Id="rId11" Type="http://schemas.openxmlformats.org/officeDocument/2006/relationships/font" Target="fonts/Manrope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0d7927554_0_10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g3f0d7927554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Bolder heading and tile effect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f7b8211433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f7b821143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8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/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fld id="{00000000-1234-1234-1234-123412341234}" type="slidenum">
              <a:rPr b="0" i="0" lang="en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700" u="none" cap="none" strike="noStrik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238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5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2pPr>
            <a:lvl3pPr indent="-3048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Char char="•"/>
              <a:defRPr/>
            </a:lvl3pPr>
            <a:lvl4pPr indent="-2984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Char char="•"/>
              <a:defRPr/>
            </a:lvl4pPr>
            <a:lvl5pPr indent="-2984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idx="10" type="dt"/>
          </p:nvPr>
        </p:nvSpPr>
        <p:spPr>
          <a:xfrm>
            <a:off x="342986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6"/>
          <p:cNvSpPr txBox="1"/>
          <p:nvPr>
            <p:ph idx="11" type="ftr"/>
          </p:nvPr>
        </p:nvSpPr>
        <p:spPr>
          <a:xfrm>
            <a:off x="2343736" y="4767263"/>
            <a:ext cx="2172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4916130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 1">
  <p:cSld name="One column 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2" name="Google Shape;72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379769" y="1649667"/>
            <a:ext cx="4771285" cy="3172118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20"/>
          <p:cNvSpPr txBox="1"/>
          <p:nvPr>
            <p:ph type="title"/>
          </p:nvPr>
        </p:nvSpPr>
        <p:spPr>
          <a:xfrm>
            <a:off x="524290" y="1678806"/>
            <a:ext cx="3545700" cy="63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18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" type="body"/>
          </p:nvPr>
        </p:nvSpPr>
        <p:spPr>
          <a:xfrm>
            <a:off x="524290" y="2494073"/>
            <a:ext cx="3545700" cy="7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 sz="11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2" type="sldNum"/>
          </p:nvPr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" name="Google Shape;79;p20"/>
          <p:cNvSpPr txBox="1"/>
          <p:nvPr/>
        </p:nvSpPr>
        <p:spPr>
          <a:xfrm>
            <a:off x="4810011" y="2246105"/>
            <a:ext cx="9876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BE BOLD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Taking calculated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risk</a:t>
            </a:r>
            <a:r>
              <a:rPr b="1" i="0" lang="en" sz="800" u="none" cap="none" strike="noStrik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is key to making progress. We act with confidence and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agility</a:t>
            </a:r>
            <a:r>
              <a:rPr b="0" i="0" lang="en" sz="800" u="none" cap="none" strike="noStrik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to accomplish our goals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20"/>
          <p:cNvSpPr txBox="1"/>
          <p:nvPr/>
        </p:nvSpPr>
        <p:spPr>
          <a:xfrm>
            <a:off x="6036653" y="2229764"/>
            <a:ext cx="12663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OWN IT</a:t>
            </a:r>
            <a:endParaRPr b="0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Feeling and acting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empowered</a:t>
            </a: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is critical to drive results.  We have an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Owner’s Mind-set</a:t>
            </a: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each of us takes full responsibility for the outcomes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20"/>
          <p:cNvSpPr txBox="1"/>
          <p:nvPr/>
        </p:nvSpPr>
        <p:spPr>
          <a:xfrm>
            <a:off x="4810011" y="3313406"/>
            <a:ext cx="1226700" cy="11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SOLVE TOGETHER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Leveraging our collective genius while holding each other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accountable</a:t>
            </a: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helps us deliver the best. We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collaborate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proactively and transparently to achieve innovative solutions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20"/>
          <p:cNvSpPr txBox="1"/>
          <p:nvPr/>
        </p:nvSpPr>
        <p:spPr>
          <a:xfrm>
            <a:off x="6049221" y="3313406"/>
            <a:ext cx="1157400" cy="13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BE EMPATHETIC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Embracing diversity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makes us stronger for differences are opportunities to learn. We work with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passion to delight customers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deliver greater success to our stakeholders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3" name="Google Shape;83;p20"/>
          <p:cNvCxnSpPr/>
          <p:nvPr/>
        </p:nvCxnSpPr>
        <p:spPr>
          <a:xfrm>
            <a:off x="4886324" y="3191142"/>
            <a:ext cx="23085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dash"/>
            <a:miter lim="80"/>
            <a:headEnd len="sm" w="sm" type="none"/>
            <a:tailEnd len="sm" w="sm" type="none"/>
          </a:ln>
        </p:spPr>
      </p:cxnSp>
      <p:cxnSp>
        <p:nvCxnSpPr>
          <p:cNvPr id="84" name="Google Shape;84;p20"/>
          <p:cNvCxnSpPr/>
          <p:nvPr/>
        </p:nvCxnSpPr>
        <p:spPr>
          <a:xfrm>
            <a:off x="5996853" y="2211173"/>
            <a:ext cx="0" cy="21939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dash"/>
            <a:miter lim="80"/>
            <a:headEnd len="sm" w="sm" type="none"/>
            <a:tailEnd len="sm" w="sm" type="none"/>
          </a:ln>
        </p:spPr>
      </p:cxnSp>
      <p:sp>
        <p:nvSpPr>
          <p:cNvPr id="85" name="Google Shape;85;p20"/>
          <p:cNvSpPr txBox="1"/>
          <p:nvPr/>
        </p:nvSpPr>
        <p:spPr>
          <a:xfrm>
            <a:off x="4248872" y="931441"/>
            <a:ext cx="34959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 TATA MOTORS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are connecting aspirations by being bold in thought and action,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owning every opportunity and challenge, Solving together as one team and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engaging all our stakeholders with empathy.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are </a:t>
            </a: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MORE WHEN ONE!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20"/>
          <p:cNvSpPr txBox="1"/>
          <p:nvPr/>
        </p:nvSpPr>
        <p:spPr>
          <a:xfrm>
            <a:off x="5020696" y="636389"/>
            <a:ext cx="19524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OUR CULTURE CREDO</a:t>
            </a:r>
            <a:endParaRPr b="1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Line" showMasterSp="0">
  <p:cSld name="Agenda Line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1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descr="Image result for tata logo" id="89" name="Google Shape;89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68751" y="122928"/>
            <a:ext cx="601161" cy="551811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12132" y="4935048"/>
            <a:ext cx="1857199" cy="121499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21"/>
          <p:cNvSpPr txBox="1"/>
          <p:nvPr/>
        </p:nvSpPr>
        <p:spPr>
          <a:xfrm>
            <a:off x="8738821" y="4935047"/>
            <a:ext cx="144900" cy="1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i="0" lang="en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00" u="none" cap="none" strike="noStrike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94" name="Google Shape;94;p2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95" name="Google Shape;95;p22"/>
          <p:cNvSpPr txBox="1"/>
          <p:nvPr>
            <p:ph idx="12" type="sldNum"/>
          </p:nvPr>
        </p:nvSpPr>
        <p:spPr>
          <a:xfrm>
            <a:off x="8494750" y="4838748"/>
            <a:ext cx="5487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indent="0" lvl="1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indent="0" lvl="2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indent="0" lvl="3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indent="0" lvl="4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indent="0" lvl="5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indent="0" lvl="6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indent="0" lvl="7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indent="0" lvl="8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b="1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24000" y="916175"/>
            <a:ext cx="8578800" cy="37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238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48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3"/>
          <p:cNvSpPr txBox="1"/>
          <p:nvPr>
            <p:ph type="title"/>
          </p:nvPr>
        </p:nvSpPr>
        <p:spPr>
          <a:xfrm>
            <a:off x="190600" y="20133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lang="en" sz="17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Product &amp; Tech Updates — Carrier Matching</a:t>
            </a:r>
            <a:r>
              <a:rPr lang="en" sz="1700">
                <a:latin typeface="Manrope"/>
                <a:ea typeface="Manrope"/>
                <a:cs typeface="Manrope"/>
                <a:sym typeface="Manrope"/>
              </a:rPr>
              <a:t/>
            </a:r>
            <a:r>
              <a:rPr lang="en" sz="17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r>
              <a:rPr lang="en" sz="1700">
                <a:latin typeface="Manrope"/>
                <a:ea typeface="Manrope"/>
                <a:cs typeface="Manrope"/>
                <a:sym typeface="Manrope"/>
              </a:rPr>
              <a:t/>
            </a:r>
            <a:endParaRPr sz="1700">
              <a:solidFill>
                <a:srgbClr val="980000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b="0" lang="en" sz="1200">
                <a:latin typeface="Manrope"/>
                <a:ea typeface="Manrope"/>
                <a:cs typeface="Manrope"/>
                <a:sym typeface="Manrope"/>
              </a:rPr>
              <a:t>Apr–Jun'26 Board &amp; Monthly Review  ·  Steady momentum; pedal on inventory &amp; demand fulfilment</a:t>
            </a:r>
            <a:endParaRPr sz="1200"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descr="Freight Tiger raises $6.5mn led by Mathew Cyriac's Florintree - Freight  Tiger" id="142" name="Google Shape;142;p23"/>
          <p:cNvPicPr preferRelativeResize="0"/>
          <p:nvPr/>
        </p:nvPicPr>
        <p:blipFill rotWithShape="1">
          <a:blip r:embed="rId6">
            <a:alphaModFix/>
          </a:blip>
          <a:srcRect b="11241" l="0" r="21086" t="14115"/>
          <a:stretch/>
        </p:blipFill>
        <p:spPr>
          <a:xfrm>
            <a:off x="8247328" y="65382"/>
            <a:ext cx="821475" cy="355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3" name="Google Shape;143;p23"/>
          <p:cNvCxnSpPr/>
          <p:nvPr/>
        </p:nvCxnSpPr>
        <p:spPr>
          <a:xfrm>
            <a:off x="242398" y="642473"/>
            <a:ext cx="8616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3"/>
          <p:cNvSpPr txBox="1"/>
          <p:nvPr>
            <p:ph idx="12" type="sldNum"/>
          </p:nvPr>
        </p:nvSpPr>
        <p:spPr>
          <a:xfrm>
            <a:off x="8619964" y="4823621"/>
            <a:ext cx="5481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700"/>
              <a:t>‹#›</a:t>
            </a:fld>
            <a:endParaRPr sz="700"/>
          </a:p>
        </p:txBody>
      </p:sp>
      <p:sp>
        <p:nvSpPr>
          <p:cNvPr id="151" name="Google Shape;151;p23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D9D9"/>
                </a:solidFill>
                <a:latin typeface="Manrope"/>
                <a:ea typeface="Manrope"/>
                <a:cs typeface="Manrope"/>
                <a:sym typeface="Manrope"/>
              </a:rPr>
              <a:t>@FreightTiger confidential</a:t>
            </a:r>
            <a:endParaRPr b="0" i="0" sz="800" u="none" cap="none" strike="noStrike">
              <a:solidFill>
                <a:srgbClr val="D9D9D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274320" y="731520"/>
            <a:ext cx="1463040" cy="219456"/>
          </a:xfrm>
          <a:prstGeom prst="roundRect">
            <a:avLst>
              <a:gd name="adj" fmla="val 18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74320" y="731520"/>
            <a:ext cx="1463040" cy="219456"/>
          </a:xfrm>
          <a:prstGeom prst="rect">
            <a:avLst/>
          </a:prstGeom>
          <a:noFill/>
        </p:spPr>
        <p:txBody>
          <a:bodyPr wrap="square" anchor="ctr" lIns="45720" rIns="36576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1" sz="800">
                <a:solidFill>
                  <a:srgbClr val="FFFFFF"/>
                </a:solidFill>
                <a:latin typeface="Manrope"/>
              </a:rPr>
              <a:t>PROJECT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1783080" y="731520"/>
            <a:ext cx="2286000" cy="219456"/>
          </a:xfrm>
          <a:prstGeom prst="roundRect">
            <a:avLst>
              <a:gd name="adj" fmla="val 18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783080" y="731520"/>
            <a:ext cx="2286000" cy="219456"/>
          </a:xfrm>
          <a:prstGeom prst="rect">
            <a:avLst/>
          </a:prstGeom>
          <a:noFill/>
        </p:spPr>
        <p:txBody>
          <a:bodyPr wrap="square" anchor="ctr" lIns="45720" rIns="36576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1" sz="800">
                <a:solidFill>
                  <a:srgbClr val="FFFFFF"/>
                </a:solidFill>
                <a:latin typeface="Manrope"/>
              </a:rPr>
              <a:t>DELIVERED · APR–JUN'26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114800" y="731520"/>
            <a:ext cx="2121408" cy="219456"/>
          </a:xfrm>
          <a:prstGeom prst="roundRect">
            <a:avLst>
              <a:gd name="adj" fmla="val 18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4114800" y="731520"/>
            <a:ext cx="2121408" cy="219456"/>
          </a:xfrm>
          <a:prstGeom prst="rect">
            <a:avLst/>
          </a:prstGeom>
          <a:noFill/>
        </p:spPr>
        <p:txBody>
          <a:bodyPr wrap="square" anchor="ctr" lIns="45720" rIns="36576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1" sz="800">
                <a:solidFill>
                  <a:srgbClr val="FFFFFF"/>
                </a:solidFill>
                <a:latin typeface="Manrope"/>
              </a:rPr>
              <a:t>TREND (JAN–JUN'26)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281928" y="731520"/>
            <a:ext cx="2569464" cy="219456"/>
          </a:xfrm>
          <a:prstGeom prst="roundRect">
            <a:avLst>
              <a:gd name="adj" fmla="val 1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281928" y="731520"/>
            <a:ext cx="2569464" cy="219456"/>
          </a:xfrm>
          <a:prstGeom prst="rect">
            <a:avLst/>
          </a:prstGeom>
          <a:noFill/>
        </p:spPr>
        <p:txBody>
          <a:bodyPr wrap="square" anchor="ctr" lIns="45720" rIns="36576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1" sz="800">
                <a:solidFill>
                  <a:srgbClr val="FFFFFF"/>
                </a:solidFill>
                <a:latin typeface="Manrope"/>
              </a:rPr>
              <a:t>NEXT FOCUS · JUL–AUG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74320" y="987552"/>
            <a:ext cx="14630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1783080" y="987552"/>
            <a:ext cx="228600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4114800" y="987552"/>
            <a:ext cx="2121408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6281928" y="987552"/>
            <a:ext cx="2569464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274320" y="987552"/>
            <a:ext cx="1463040" cy="749808"/>
          </a:xfrm>
          <a:prstGeom prst="rect">
            <a:avLst/>
          </a:prstGeom>
          <a:noFill/>
        </p:spPr>
        <p:txBody>
          <a:bodyPr wrap="square" anchor="ctr" lIns="45720" rIns="36576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1" sz="800">
                <a:solidFill>
                  <a:srgbClr val="111827"/>
                </a:solidFill>
                <a:latin typeface="Manrope"/>
              </a:rPr>
              <a:t>Drive FO App to 2,000 DAU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30">
                <a:solidFill>
                  <a:srgbClr val="5D6675"/>
                </a:solidFill>
                <a:latin typeface="Manrope"/>
              </a:rPr>
              <a:t>Better load experience &amp; payment visibility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783080" y="987552"/>
            <a:ext cx="2286000" cy="749808"/>
          </a:xfrm>
          <a:prstGeom prst="rect">
            <a:avLst/>
          </a:prstGeom>
          <a:noFill/>
        </p:spPr>
        <p:txBody>
          <a:bodyPr wrap="square" anchor="ctr" lIns="45720" rIns="36576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DAU 178 → </a:t>
            </a:r>
            <a:r>
              <a:rPr b="1" sz="650">
                <a:solidFill>
                  <a:srgbClr val="1C6B2D"/>
                </a:solidFill>
                <a:latin typeface="Manrope"/>
              </a:rPr>
              <a:t>252</a:t>
            </a:r>
            <a:r>
              <a:rPr b="0" sz="650">
                <a:solidFill>
                  <a:srgbClr val="111827"/>
                </a:solidFill>
                <a:latin typeface="Manrope"/>
              </a:rPr>
              <a:t> (+42%); crossed 200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Installs 1,449 → 1,935; MAU 1,027 → 1,325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Stickiness 17.3% → 19.0%</a:t>
            </a:r>
          </a:p>
        </p:txBody>
      </p:sp>
      <p:pic>
        <p:nvPicPr>
          <p:cNvPr id="166" name="Picture 165" descr="c1_da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78808" y="1023579"/>
            <a:ext cx="1993392" cy="677753"/>
          </a:xfrm>
          <a:prstGeom prst="rect">
            <a:avLst/>
          </a:prstGeom>
        </p:spPr>
      </p:pic>
      <p:sp>
        <p:nvSpPr>
          <p:cNvPr id="167" name="TextBox 166"/>
          <p:cNvSpPr txBox="1"/>
          <p:nvPr/>
        </p:nvSpPr>
        <p:spPr>
          <a:xfrm>
            <a:off x="6281928" y="987552"/>
            <a:ext cx="2569464" cy="749808"/>
          </a:xfrm>
          <a:prstGeom prst="rect">
            <a:avLst/>
          </a:prstGeom>
          <a:noFill/>
        </p:spPr>
        <p:txBody>
          <a:bodyPr wrap="square" anchor="ctr" lIns="45720" rIns="36576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• </a:t>
            </a:r>
            <a:r>
              <a:rPr b="0" sz="650">
                <a:solidFill>
                  <a:srgbClr val="111827"/>
                </a:solidFill>
                <a:latin typeface="Manrope"/>
              </a:rPr>
              <a:t>Payment status timeline in FO App (POD→UTR)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• </a:t>
            </a:r>
            <a:r>
              <a:rPr b="0" sz="650">
                <a:solidFill>
                  <a:srgbClr val="111827"/>
                </a:solidFill>
                <a:latin typeface="Manrope"/>
              </a:rPr>
              <a:t>Push DAU toward 2,000; better load experience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• </a:t>
            </a:r>
            <a:r>
              <a:rPr b="0" sz="650">
                <a:solidFill>
                  <a:srgbClr val="111827"/>
                </a:solidFill>
                <a:latin typeface="Manrope"/>
              </a:rPr>
              <a:t>Lift WAU (582→747) &amp; cut uninstalls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74320" y="1764792"/>
            <a:ext cx="1463040" cy="749808"/>
          </a:xfrm>
          <a:prstGeom prst="roundRect">
            <a:avLst>
              <a:gd name="adj" fmla="val 6000"/>
            </a:avLst>
          </a:prstGeom>
          <a:solidFill>
            <a:srgbClr val="F1FBF5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1783080" y="1764792"/>
            <a:ext cx="2286000" cy="749808"/>
          </a:xfrm>
          <a:prstGeom prst="roundRect">
            <a:avLst>
              <a:gd name="adj" fmla="val 6000"/>
            </a:avLst>
          </a:prstGeom>
          <a:solidFill>
            <a:srgbClr val="F1FBF5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ounded Rectangle 169"/>
          <p:cNvSpPr/>
          <p:nvPr/>
        </p:nvSpPr>
        <p:spPr>
          <a:xfrm>
            <a:off x="4114800" y="1764792"/>
            <a:ext cx="2121408" cy="749808"/>
          </a:xfrm>
          <a:prstGeom prst="roundRect">
            <a:avLst>
              <a:gd name="adj" fmla="val 6000"/>
            </a:avLst>
          </a:prstGeom>
          <a:solidFill>
            <a:srgbClr val="F1FBF5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ounded Rectangle 170"/>
          <p:cNvSpPr/>
          <p:nvPr/>
        </p:nvSpPr>
        <p:spPr>
          <a:xfrm>
            <a:off x="6281928" y="1764792"/>
            <a:ext cx="2569464" cy="749808"/>
          </a:xfrm>
          <a:prstGeom prst="roundRect">
            <a:avLst>
              <a:gd name="adj" fmla="val 6000"/>
            </a:avLst>
          </a:prstGeom>
          <a:solidFill>
            <a:srgbClr val="F1FBF5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274320" y="1764792"/>
            <a:ext cx="1463040" cy="749808"/>
          </a:xfrm>
          <a:prstGeom prst="rect">
            <a:avLst/>
          </a:prstGeom>
          <a:noFill/>
        </p:spPr>
        <p:txBody>
          <a:bodyPr wrap="square" anchor="ctr" lIns="45720" rIns="36576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1" sz="800">
                <a:solidFill>
                  <a:srgbClr val="111827"/>
                </a:solidFill>
                <a:latin typeface="Manrope"/>
              </a:rPr>
              <a:t>Improve demand fulfilment to 50%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30">
                <a:solidFill>
                  <a:srgbClr val="5D6675"/>
                </a:solidFill>
                <a:latin typeface="Manrope"/>
              </a:rPr>
              <a:t>Matching, bid ranges &amp; real-time visibility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783080" y="1764792"/>
            <a:ext cx="2286000" cy="749808"/>
          </a:xfrm>
          <a:prstGeom prst="rect">
            <a:avLst/>
          </a:prstGeom>
          <a:noFill/>
        </p:spPr>
        <p:txBody>
          <a:bodyPr wrap="square" anchor="ctr" lIns="45720" rIns="36576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Placeable fulfilment 31% → </a:t>
            </a:r>
            <a:r>
              <a:rPr b="1" sz="650">
                <a:solidFill>
                  <a:srgbClr val="1C6B2D"/>
                </a:solidFill>
                <a:latin typeface="Manrope"/>
              </a:rPr>
              <a:t>43.5%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Bids 670 → 725; unique FOs 211 → 267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Overall fulfilment 11% → 12.5%</a:t>
            </a:r>
          </a:p>
        </p:txBody>
      </p:sp>
      <p:pic>
        <p:nvPicPr>
          <p:cNvPr id="174" name="Picture 173" descr="c2_fulfi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78808" y="1800819"/>
            <a:ext cx="1993392" cy="677753"/>
          </a:xfrm>
          <a:prstGeom prst="rect">
            <a:avLst/>
          </a:prstGeom>
        </p:spPr>
      </p:pic>
      <p:sp>
        <p:nvSpPr>
          <p:cNvPr id="175" name="TextBox 174"/>
          <p:cNvSpPr txBox="1"/>
          <p:nvPr/>
        </p:nvSpPr>
        <p:spPr>
          <a:xfrm>
            <a:off x="6281928" y="1764792"/>
            <a:ext cx="2569464" cy="749808"/>
          </a:xfrm>
          <a:prstGeom prst="rect">
            <a:avLst/>
          </a:prstGeom>
          <a:noFill/>
        </p:spPr>
        <p:txBody>
          <a:bodyPr wrap="square" anchor="ctr" lIns="45720" rIns="36576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• </a:t>
            </a:r>
            <a:r>
              <a:rPr b="0" sz="650">
                <a:solidFill>
                  <a:srgbClr val="111827"/>
                </a:solidFill>
                <a:latin typeface="Manrope"/>
              </a:rPr>
              <a:t>Sustain 50% placeable-fulfilment target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• </a:t>
            </a:r>
            <a:r>
              <a:rPr b="0" sz="650">
                <a:solidFill>
                  <a:srgbClr val="111827"/>
                </a:solidFill>
                <a:latin typeface="Manrope"/>
              </a:rPr>
              <a:t>Bid ranges &amp; real-time matching visibility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• </a:t>
            </a:r>
            <a:r>
              <a:rPr b="0" sz="650">
                <a:solidFill>
                  <a:srgbClr val="111827"/>
                </a:solidFill>
                <a:latin typeface="Manrope"/>
              </a:rPr>
              <a:t>Rebuild bid consistency across lanes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274320" y="2542032"/>
            <a:ext cx="14630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ounded Rectangle 176"/>
          <p:cNvSpPr/>
          <p:nvPr/>
        </p:nvSpPr>
        <p:spPr>
          <a:xfrm>
            <a:off x="1783080" y="2542032"/>
            <a:ext cx="228600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4114800" y="2542032"/>
            <a:ext cx="2121408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6281928" y="2542032"/>
            <a:ext cx="2569464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274320" y="2542032"/>
            <a:ext cx="1463040" cy="749808"/>
          </a:xfrm>
          <a:prstGeom prst="rect">
            <a:avLst/>
          </a:prstGeom>
          <a:noFill/>
        </p:spPr>
        <p:txBody>
          <a:bodyPr wrap="square" anchor="ctr" lIns="45720" rIns="36576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1" sz="800">
                <a:solidFill>
                  <a:srgbClr val="111827"/>
                </a:solidFill>
                <a:latin typeface="Manrope"/>
              </a:rPr>
              <a:t>Increase inventory 50% (1,500/mo)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30">
                <a:solidFill>
                  <a:srgbClr val="5D6675"/>
                </a:solidFill>
                <a:latin typeface="Manrope"/>
              </a:rPr>
              <a:t>Via automated agentic calling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783080" y="2542032"/>
            <a:ext cx="2286000" cy="749808"/>
          </a:xfrm>
          <a:prstGeom prst="rect">
            <a:avLst/>
          </a:prstGeom>
          <a:noFill/>
        </p:spPr>
        <p:txBody>
          <a:bodyPr wrap="square" anchor="ctr" lIns="45720" rIns="36576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AI inventory 728 → </a:t>
            </a:r>
            <a:r>
              <a:rPr b="1" sz="650">
                <a:solidFill>
                  <a:srgbClr val="1C6B2D"/>
                </a:solidFill>
                <a:latin typeface="Manrope"/>
              </a:rPr>
              <a:t>1,043</a:t>
            </a:r>
            <a:r>
              <a:rPr b="0" sz="650">
                <a:solidFill>
                  <a:srgbClr val="111827"/>
                </a:solidFill>
                <a:latin typeface="Manrope"/>
              </a:rPr>
              <a:t> (~65–77% of total)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Manual inventory 1,098 → </a:t>
            </a:r>
            <a:r>
              <a:rPr b="1" sz="650">
                <a:solidFill>
                  <a:srgbClr val="980000"/>
                </a:solidFill>
                <a:latin typeface="Manrope"/>
              </a:rPr>
              <a:t>472</a:t>
            </a:r>
            <a:r>
              <a:rPr b="0" sz="650">
                <a:solidFill>
                  <a:srgbClr val="111827"/>
                </a:solidFill>
                <a:latin typeface="Manrope"/>
              </a:rPr>
              <a:t> (−57%)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Agent calls scaled to 16k (May)</a:t>
            </a:r>
          </a:p>
        </p:txBody>
      </p:sp>
      <p:pic>
        <p:nvPicPr>
          <p:cNvPr id="182" name="Picture 181" descr="c3_inv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78808" y="2578059"/>
            <a:ext cx="1993392" cy="677753"/>
          </a:xfrm>
          <a:prstGeom prst="rect">
            <a:avLst/>
          </a:prstGeom>
        </p:spPr>
      </p:pic>
      <p:sp>
        <p:nvSpPr>
          <p:cNvPr id="183" name="TextBox 182"/>
          <p:cNvSpPr txBox="1"/>
          <p:nvPr/>
        </p:nvSpPr>
        <p:spPr>
          <a:xfrm>
            <a:off x="6281928" y="2542032"/>
            <a:ext cx="2569464" cy="749808"/>
          </a:xfrm>
          <a:prstGeom prst="rect">
            <a:avLst/>
          </a:prstGeom>
          <a:noFill/>
        </p:spPr>
        <p:txBody>
          <a:bodyPr wrap="square" anchor="ctr" lIns="45720" rIns="36576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• </a:t>
            </a:r>
            <a:r>
              <a:rPr b="0" sz="650">
                <a:solidFill>
                  <a:srgbClr val="111827"/>
                </a:solidFill>
                <a:latin typeface="Manrope"/>
              </a:rPr>
              <a:t>Inventory quality: best-time-to-call, power-lane proximity, FO filtering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• </a:t>
            </a:r>
            <a:r>
              <a:rPr b="0" sz="650">
                <a:solidFill>
                  <a:srgbClr val="111827"/>
                </a:solidFill>
                <a:latin typeface="Manrope"/>
              </a:rPr>
              <a:t>Lift placeable conversion (23.9% → 11.4%)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• </a:t>
            </a:r>
            <a:r>
              <a:rPr b="0" sz="650">
                <a:solidFill>
                  <a:srgbClr val="111827"/>
                </a:solidFill>
                <a:latin typeface="Manrope"/>
              </a:rPr>
              <a:t>Grow net inventory back to 1,500/mo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274320" y="3319272"/>
            <a:ext cx="1463040" cy="749808"/>
          </a:xfrm>
          <a:prstGeom prst="roundRect">
            <a:avLst>
              <a:gd name="adj" fmla="val 6000"/>
            </a:avLst>
          </a:prstGeom>
          <a:solidFill>
            <a:srgbClr val="F1FBF5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ounded Rectangle 184"/>
          <p:cNvSpPr/>
          <p:nvPr/>
        </p:nvSpPr>
        <p:spPr>
          <a:xfrm>
            <a:off x="1783080" y="3319272"/>
            <a:ext cx="2286000" cy="749808"/>
          </a:xfrm>
          <a:prstGeom prst="roundRect">
            <a:avLst>
              <a:gd name="adj" fmla="val 6000"/>
            </a:avLst>
          </a:prstGeom>
          <a:solidFill>
            <a:srgbClr val="F1FBF5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ounded Rectangle 185"/>
          <p:cNvSpPr/>
          <p:nvPr/>
        </p:nvSpPr>
        <p:spPr>
          <a:xfrm>
            <a:off x="4114800" y="3319272"/>
            <a:ext cx="2121408" cy="749808"/>
          </a:xfrm>
          <a:prstGeom prst="roundRect">
            <a:avLst>
              <a:gd name="adj" fmla="val 6000"/>
            </a:avLst>
          </a:prstGeom>
          <a:solidFill>
            <a:srgbClr val="F1FBF5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6281928" y="3319272"/>
            <a:ext cx="2569464" cy="749808"/>
          </a:xfrm>
          <a:prstGeom prst="roundRect">
            <a:avLst>
              <a:gd name="adj" fmla="val 6000"/>
            </a:avLst>
          </a:prstGeom>
          <a:solidFill>
            <a:srgbClr val="F1FBF5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74320" y="3319272"/>
            <a:ext cx="1463040" cy="749808"/>
          </a:xfrm>
          <a:prstGeom prst="rect">
            <a:avLst/>
          </a:prstGeom>
          <a:noFill/>
        </p:spPr>
        <p:txBody>
          <a:bodyPr wrap="square" anchor="ctr" lIns="45720" rIns="36576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1" sz="800">
                <a:solidFill>
                  <a:srgbClr val="111827"/>
                </a:solidFill>
                <a:latin typeface="Manrope"/>
              </a:rPr>
              <a:t>Cost to serve reduction 70%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30">
                <a:solidFill>
                  <a:srgbClr val="5D6675"/>
                </a:solidFill>
                <a:latin typeface="Manrope"/>
              </a:rPr>
              <a:t>Automate ops processes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783080" y="3319272"/>
            <a:ext cx="2286000" cy="749808"/>
          </a:xfrm>
          <a:prstGeom prst="rect">
            <a:avLst/>
          </a:prstGeom>
          <a:noFill/>
        </p:spPr>
        <p:txBody>
          <a:bodyPr wrap="square" anchor="ctr" lIns="45720" rIns="36576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Automated Vahan verification &amp; journey updates in LSP WhatsApp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Saves ~10 hrs City-Team effort daily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~15% CT resource-cost reduction</a:t>
            </a:r>
          </a:p>
        </p:txBody>
      </p:sp>
      <p:pic>
        <p:nvPicPr>
          <p:cNvPr id="190" name="Picture 189" descr="c4_call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78808" y="3355299"/>
            <a:ext cx="1993392" cy="677753"/>
          </a:xfrm>
          <a:prstGeom prst="rect">
            <a:avLst/>
          </a:prstGeom>
        </p:spPr>
      </p:pic>
      <p:sp>
        <p:nvSpPr>
          <p:cNvPr id="191" name="TextBox 190"/>
          <p:cNvSpPr txBox="1"/>
          <p:nvPr/>
        </p:nvSpPr>
        <p:spPr>
          <a:xfrm>
            <a:off x="6281928" y="3319272"/>
            <a:ext cx="2569464" cy="749808"/>
          </a:xfrm>
          <a:prstGeom prst="rect">
            <a:avLst/>
          </a:prstGeom>
          <a:noFill/>
        </p:spPr>
        <p:txBody>
          <a:bodyPr wrap="square" anchor="ctr" lIns="45720" rIns="36576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• </a:t>
            </a:r>
            <a:r>
              <a:rPr b="0" sz="650">
                <a:solidFill>
                  <a:srgbClr val="111827"/>
                </a:solidFill>
                <a:latin typeface="Manrope"/>
              </a:rPr>
              <a:t>FO doc collection via app payment incentives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• </a:t>
            </a:r>
            <a:r>
              <a:rPr b="0" sz="650">
                <a:solidFill>
                  <a:srgbClr val="111827"/>
                </a:solidFill>
                <a:latin typeface="Manrope"/>
              </a:rPr>
              <a:t>AI City-Team for SIM-consent automation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• </a:t>
            </a:r>
            <a:r>
              <a:rPr b="0" sz="650">
                <a:solidFill>
                  <a:srgbClr val="111827"/>
                </a:solidFill>
                <a:latin typeface="Manrope"/>
              </a:rPr>
              <a:t>Transit-delay detection</a:t>
            </a:r>
          </a:p>
        </p:txBody>
      </p:sp>
      <p:sp>
        <p:nvSpPr>
          <p:cNvPr id="192" name="Rounded Rectangle 191"/>
          <p:cNvSpPr/>
          <p:nvPr/>
        </p:nvSpPr>
        <p:spPr>
          <a:xfrm>
            <a:off x="274320" y="4096512"/>
            <a:ext cx="1463040" cy="548640"/>
          </a:xfrm>
          <a:prstGeom prst="roundRect">
            <a:avLst>
              <a:gd name="adj" fmla="val 6000"/>
            </a:avLst>
          </a:prstGeom>
          <a:solidFill>
            <a:srgbClr val="FFF2CC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ounded Rectangle 192"/>
          <p:cNvSpPr/>
          <p:nvPr/>
        </p:nvSpPr>
        <p:spPr>
          <a:xfrm>
            <a:off x="1783080" y="4096512"/>
            <a:ext cx="2286000" cy="548640"/>
          </a:xfrm>
          <a:prstGeom prst="roundRect">
            <a:avLst>
              <a:gd name="adj" fmla="val 6000"/>
            </a:avLst>
          </a:prstGeom>
          <a:solidFill>
            <a:srgbClr val="FFF2CC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ounded Rectangle 193"/>
          <p:cNvSpPr/>
          <p:nvPr/>
        </p:nvSpPr>
        <p:spPr>
          <a:xfrm>
            <a:off x="4114800" y="4096512"/>
            <a:ext cx="2121408" cy="548640"/>
          </a:xfrm>
          <a:prstGeom prst="roundRect">
            <a:avLst>
              <a:gd name="adj" fmla="val 6000"/>
            </a:avLst>
          </a:prstGeom>
          <a:solidFill>
            <a:srgbClr val="FFF2CC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ounded Rectangle 194"/>
          <p:cNvSpPr/>
          <p:nvPr/>
        </p:nvSpPr>
        <p:spPr>
          <a:xfrm>
            <a:off x="6281928" y="4096512"/>
            <a:ext cx="2569464" cy="548640"/>
          </a:xfrm>
          <a:prstGeom prst="roundRect">
            <a:avLst>
              <a:gd name="adj" fmla="val 6000"/>
            </a:avLst>
          </a:prstGeom>
          <a:solidFill>
            <a:srgbClr val="FFF2CC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274320" y="4096512"/>
            <a:ext cx="1463040" cy="548640"/>
          </a:xfrm>
          <a:prstGeom prst="rect">
            <a:avLst/>
          </a:prstGeom>
          <a:noFill/>
        </p:spPr>
        <p:txBody>
          <a:bodyPr wrap="square" anchor="ctr" lIns="45720" rIns="36576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1" sz="800">
                <a:solidFill>
                  <a:srgbClr val="111827"/>
                </a:solidFill>
                <a:latin typeface="Manrope"/>
              </a:rPr>
              <a:t>Ledger automation for compliance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30">
                <a:solidFill>
                  <a:srgbClr val="5D6675"/>
                </a:solidFill>
                <a:latin typeface="Manrope"/>
              </a:rPr>
              <a:t>Trip &amp; party-level ledger · NEW (Jun)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783080" y="4096512"/>
            <a:ext cx="2286000" cy="548640"/>
          </a:xfrm>
          <a:prstGeom prst="rect">
            <a:avLst/>
          </a:prstGeom>
          <a:noFill/>
        </p:spPr>
        <p:txBody>
          <a:bodyPr wrap="square" anchor="ctr" lIns="45720" rIns="36576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Initiative picked in June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4672584" y="4251960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EDE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4672584" y="4251960"/>
            <a:ext cx="1005840" cy="237744"/>
          </a:xfrm>
          <a:prstGeom prst="rect">
            <a:avLst/>
          </a:prstGeom>
          <a:noFill/>
        </p:spPr>
        <p:txBody>
          <a:bodyPr wrap="square" anchor="ctr" lIns="45720" rIns="36576" tIns="9144" bIns="9144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1" sz="700">
                <a:solidFill>
                  <a:srgbClr val="6043A3"/>
                </a:solidFill>
                <a:latin typeface="Manrope"/>
              </a:rPr>
              <a:t>New · Jun'26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281928" y="4096512"/>
            <a:ext cx="2569464" cy="548640"/>
          </a:xfrm>
          <a:prstGeom prst="rect">
            <a:avLst/>
          </a:prstGeom>
          <a:noFill/>
        </p:spPr>
        <p:txBody>
          <a:bodyPr wrap="square" anchor="ctr" lIns="45720" rIns="36576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• </a:t>
            </a:r>
            <a:r>
              <a:rPr b="0" sz="650">
                <a:solidFill>
                  <a:srgbClr val="111827"/>
                </a:solidFill>
                <a:latin typeface="Manrope"/>
              </a:rPr>
              <a:t>Build trip-level &amp; party-level ledgers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650">
                <a:solidFill>
                  <a:srgbClr val="111827"/>
                </a:solidFill>
                <a:latin typeface="Manrope"/>
              </a:rPr>
              <a:t>• </a:t>
            </a:r>
            <a:r>
              <a:rPr b="0" sz="650">
                <a:solidFill>
                  <a:srgbClr val="111827"/>
                </a:solidFill>
                <a:latin typeface="Manrope"/>
              </a:rPr>
              <a:t>Wallet-based auto-reconciliation across trips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274320" y="4828032"/>
            <a:ext cx="5943600" cy="182880"/>
          </a:xfrm>
          <a:prstGeom prst="rect">
            <a:avLst/>
          </a:prstGeom>
          <a:noFill/>
        </p:spPr>
        <p:txBody>
          <a:bodyPr wrap="square" anchor="ctr" lIns="45720" rIns="36576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b="0" sz="550">
                <a:solidFill>
                  <a:srgbClr val="5D6675"/>
                </a:solidFill>
                <a:latin typeface="Manrope"/>
              </a:rPr>
              <a:t>Trend from monthly metrics (Jan–Jun'26); Apr–Jun highlighted. Delivered &amp; Next Focus per product roadmap.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7" name="Google Shape;157;p24"/>
          <p:cNvGraphicFramePr/>
          <p:nvPr/>
        </p:nvGraphicFramePr>
        <p:xfrm>
          <a:off x="242400" y="64328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{EEE02122-0968-4535-85BE-7FB82C2E50CA}</a:tableStyleId>
              </a:tblPr>
              <a:tblGrid>
                <a:gridCol w="1159675"/>
                <a:gridCol w="1833825"/>
                <a:gridCol w="849825"/>
                <a:gridCol w="802275"/>
                <a:gridCol w="3971000"/>
              </a:tblGrid>
              <a:tr h="286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Customer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Stage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ETA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MRR 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(INR Lacs)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Comments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</a:tr>
              <a:tr h="3306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Novoco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Live 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May 4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8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Pidilite Phase 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       May 7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Existing customer, no additional MRR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MSP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sng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Apr 25</a:t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May 22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0.5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Pittie Group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3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Client development is in progress. Awaiting development completion timelines from the client to finalize the go-live date.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8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TCPL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sng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May 15</a:t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June 15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3.5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Timeline shifted due to expanded scope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4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Diageo Phase 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UAT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Jun 29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UAT 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Tata Bluescope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Partially 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NA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2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Live with 8 locations. 1 plant go live pending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Kajaria Ceramics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Kick Off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2.7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The project kick-off initiated on 5th June,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JSW Steel plant addition 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solidFill>
                            <a:schemeClr val="dk1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Kick Off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New Plants addition via Integration we got approval from JSW Management Kickoff call with JSW IT is scheduled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BASF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Aug 18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Solutioning and dev running in parallel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Freight Tiger raises $6.5mn led by Mathew Cyriac's Florintree - Freight  Tiger" id="158" name="Google Shape;158;p24"/>
          <p:cNvPicPr preferRelativeResize="0"/>
          <p:nvPr/>
        </p:nvPicPr>
        <p:blipFill rotWithShape="1">
          <a:blip r:embed="rId3">
            <a:alphaModFix/>
          </a:blip>
          <a:srcRect b="11241" l="0" r="21086" t="14115"/>
          <a:stretch/>
        </p:blipFill>
        <p:spPr>
          <a:xfrm>
            <a:off x="8247328" y="65382"/>
            <a:ext cx="821475" cy="355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9" name="Google Shape;159;p24"/>
          <p:cNvCxnSpPr/>
          <p:nvPr/>
        </p:nvCxnSpPr>
        <p:spPr>
          <a:xfrm>
            <a:off x="242398" y="642473"/>
            <a:ext cx="8616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" name="Google Shape;160;p24"/>
          <p:cNvSpPr txBox="1"/>
          <p:nvPr>
            <p:ph type="title"/>
          </p:nvPr>
        </p:nvSpPr>
        <p:spPr>
          <a:xfrm>
            <a:off x="190600" y="20133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lang="en" sz="1700">
                <a:latin typeface="Manrope"/>
                <a:ea typeface="Manrope"/>
                <a:cs typeface="Manrope"/>
                <a:sym typeface="Manrope"/>
              </a:rPr>
              <a:t>Customer Integrations</a:t>
            </a:r>
            <a:endParaRPr sz="1700">
              <a:solidFill>
                <a:srgbClr val="980000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b="0" lang="en" sz="1200">
                <a:latin typeface="Manrope"/>
                <a:ea typeface="Manrope"/>
                <a:cs typeface="Manrope"/>
                <a:sym typeface="Manrope"/>
              </a:rPr>
              <a:t>In progress integrations and their current statuses</a:t>
            </a:r>
            <a:endParaRPr sz="120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61" name="Google Shape;161;p24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D9D9"/>
                </a:solidFill>
                <a:latin typeface="Manrope"/>
                <a:ea typeface="Manrope"/>
                <a:cs typeface="Manrope"/>
                <a:sym typeface="Manrope"/>
              </a:rPr>
              <a:t>@FreightTiger confidential</a:t>
            </a:r>
            <a:endParaRPr b="0" i="0" sz="800" u="none" cap="none" strike="noStrike">
              <a:solidFill>
                <a:srgbClr val="D9D9D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62" name="Google Shape;162;p24"/>
          <p:cNvSpPr txBox="1"/>
          <p:nvPr/>
        </p:nvSpPr>
        <p:spPr>
          <a:xfrm>
            <a:off x="4957011" y="41638"/>
            <a:ext cx="3537300" cy="3078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Product/Tech team to update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34A90"/>
      </a:accent1>
      <a:accent2>
        <a:srgbClr val="48A1FA"/>
      </a:accent2>
      <a:accent3>
        <a:srgbClr val="85C0FB"/>
      </a:accent3>
      <a:accent4>
        <a:srgbClr val="5B9BD5"/>
      </a:accent4>
      <a:accent5>
        <a:srgbClr val="7B7B7B"/>
      </a:accent5>
      <a:accent6>
        <a:srgbClr val="A5A5A5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