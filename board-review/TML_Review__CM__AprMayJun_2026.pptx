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Manrope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E02122-0968-4535-85BE-7FB82C2E50CA}">
  <a:tblStyle styleId="{EEE02122-0968-4535-85BE-7FB82C2E50CA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0097A7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0097A7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font" Target="fonts/Manrope-regular.fntdata"/><Relationship Id="rId11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0d7927554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0d792755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Bolder heading and tile effect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b821143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7b82114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/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0" type="dt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79769" y="1649667"/>
            <a:ext cx="4771285" cy="317211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0"/>
          <p:cNvSpPr txBox="1"/>
          <p:nvPr>
            <p:ph type="title"/>
          </p:nvPr>
        </p:nvSpPr>
        <p:spPr>
          <a:xfrm>
            <a:off x="524290" y="1678806"/>
            <a:ext cx="35457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524290" y="2494073"/>
            <a:ext cx="35457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20"/>
          <p:cNvSpPr txBox="1"/>
          <p:nvPr/>
        </p:nvSpPr>
        <p:spPr>
          <a:xfrm>
            <a:off x="4810011" y="2246105"/>
            <a:ext cx="98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BOLD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Taking calculated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r>
              <a:rPr b="1" i="0" lang="en" sz="8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key to making progress. We act with confidence and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agility</a:t>
            </a:r>
            <a:r>
              <a:rPr b="0" i="0" lang="en" sz="8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accomplish our goals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0"/>
          <p:cNvSpPr txBox="1"/>
          <p:nvPr/>
        </p:nvSpPr>
        <p:spPr>
          <a:xfrm>
            <a:off x="6036653" y="2229764"/>
            <a:ext cx="12663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 IT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Feeling and acting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empowered</a:t>
            </a: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critical to drive results.  We have an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Owner’s Mind-set</a:t>
            </a: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each of us takes full responsibility for the outcomes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0"/>
          <p:cNvSpPr txBox="1"/>
          <p:nvPr/>
        </p:nvSpPr>
        <p:spPr>
          <a:xfrm>
            <a:off x="4810011" y="3313406"/>
            <a:ext cx="12267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TOGETHER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Leveraging our collective genius while holding each other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accountable</a:t>
            </a: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helps us deliver the best. We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collaborate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proactively and transparently to achieve innovative solutions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0"/>
          <p:cNvSpPr txBox="1"/>
          <p:nvPr/>
        </p:nvSpPr>
        <p:spPr>
          <a:xfrm>
            <a:off x="6049221" y="3313406"/>
            <a:ext cx="11574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EMPATHETIC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Embracing diversity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makes us stronger for differences are opportunities to learn. We work with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passion to delight customers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deliver greater success to our stakeholders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20"/>
          <p:cNvCxnSpPr/>
          <p:nvPr/>
        </p:nvCxnSpPr>
        <p:spPr>
          <a:xfrm>
            <a:off x="4886324" y="3191142"/>
            <a:ext cx="230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"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996853" y="2211173"/>
            <a:ext cx="0" cy="2193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"/>
            <a:headEnd len="sm" w="sm" type="none"/>
            <a:tailEnd len="sm" w="sm" type="none"/>
          </a:ln>
        </p:spPr>
      </p:cxnSp>
      <p:sp>
        <p:nvSpPr>
          <p:cNvPr id="85" name="Google Shape;85;p20"/>
          <p:cNvSpPr txBox="1"/>
          <p:nvPr/>
        </p:nvSpPr>
        <p:spPr>
          <a:xfrm>
            <a:off x="4248872" y="931441"/>
            <a:ext cx="3495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TATA MOTORS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connecting aspirations by being bold in thought and action,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owning every opportunity and challenge, Solving together as one team and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engaging all our stakeholders with empathy.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</a:t>
            </a: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WHEN ONE!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0"/>
          <p:cNvSpPr txBox="1"/>
          <p:nvPr/>
        </p:nvSpPr>
        <p:spPr>
          <a:xfrm>
            <a:off x="5020696" y="636389"/>
            <a:ext cx="1952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CULTURE CREDO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ine" showMasterSp="0">
  <p:cSld name="Agenda Line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Image result for tata logo" id="89" name="Google Shape;8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8751" y="122928"/>
            <a:ext cx="601161" cy="55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132" y="4935048"/>
            <a:ext cx="1857199" cy="1214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1"/>
          <p:cNvSpPr txBox="1"/>
          <p:nvPr/>
        </p:nvSpPr>
        <p:spPr>
          <a:xfrm>
            <a:off x="8738821" y="4935047"/>
            <a:ext cx="144900" cy="1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94750" y="4838748"/>
            <a:ext cx="54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0" lvl="1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0" lvl="2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0" lvl="3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0" lvl="4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0" lvl="5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0" lvl="6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0" lvl="7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0" lvl="8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4000" y="916175"/>
            <a:ext cx="8578800" cy="3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190600" y="20133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Product &amp; Tech Updates — Carrier Matching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/>
            </a:r>
            <a:endParaRPr sz="1700">
              <a:solidFill>
                <a:srgbClr val="98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b="0" lang="en" sz="1200">
                <a:latin typeface="Manrope"/>
                <a:ea typeface="Manrope"/>
                <a:cs typeface="Manrope"/>
                <a:sym typeface="Manrope"/>
              </a:rPr>
              <a:t>Apr–Jun'26 Board &amp; Monthly Review  ·  Steady momentum; pedal on inventory &amp; demand fulfilment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Freight Tiger raises $6.5mn led by Mathew Cyriac's Florintree - Freight  Tiger" id="142" name="Google Shape;142;p23"/>
          <p:cNvPicPr preferRelativeResize="0"/>
          <p:nvPr/>
        </p:nvPicPr>
        <p:blipFill rotWithShape="1">
          <a:blip r:embed="rId6">
            <a:alphaModFix/>
          </a:blip>
          <a:srcRect b="11241" l="0" r="21086" t="14115"/>
          <a:stretch/>
        </p:blipFill>
        <p:spPr>
          <a:xfrm>
            <a:off x="8247328" y="65382"/>
            <a:ext cx="821475" cy="3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3"/>
          <p:cNvCxnSpPr/>
          <p:nvPr/>
        </p:nvCxnSpPr>
        <p:spPr>
          <a:xfrm>
            <a:off x="242398" y="642473"/>
            <a:ext cx="861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619964" y="4823621"/>
            <a:ext cx="54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700"/>
              <a:t>‹#›</a:t>
            </a:fld>
            <a:endParaRPr sz="700"/>
          </a:p>
        </p:txBody>
      </p:sp>
      <p:sp>
        <p:nvSpPr>
          <p:cNvPr id="151" name="Google Shape;151;p23"/>
          <p:cNvSpPr txBox="1"/>
          <p:nvPr/>
        </p:nvSpPr>
        <p:spPr>
          <a:xfrm>
            <a:off x="7182075" y="4905000"/>
            <a:ext cx="1652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latin typeface="Manrope"/>
                <a:ea typeface="Manrope"/>
                <a:cs typeface="Manrope"/>
                <a:sym typeface="Manrope"/>
              </a:rPr>
              <a:t>@FreightTiger confidential</a:t>
            </a:r>
            <a:endParaRPr b="0" i="0" sz="800" u="none" cap="none" strike="noStrike">
              <a:solidFill>
                <a:srgbClr val="D9D9D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274320" y="731520"/>
            <a:ext cx="1389888" cy="219456"/>
          </a:xfrm>
          <a:prstGeom prst="roundRect">
            <a:avLst>
              <a:gd name="adj" fmla="val 18000"/>
            </a:avLst>
          </a:prstGeom>
          <a:solidFill>
            <a:srgbClr val="1F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74320" y="731520"/>
            <a:ext cx="1389888" cy="219456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FFFFFF"/>
                </a:solidFill>
                <a:latin typeface="Manrope"/>
              </a:rPr>
              <a:t>PROJECT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709928" y="731520"/>
            <a:ext cx="2103120" cy="219456"/>
          </a:xfrm>
          <a:prstGeom prst="roundRect">
            <a:avLst>
              <a:gd name="adj" fmla="val 18000"/>
            </a:avLst>
          </a:prstGeom>
          <a:solidFill>
            <a:srgbClr val="268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709928" y="731520"/>
            <a:ext cx="2103120" cy="219456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FFFFFF"/>
                </a:solidFill>
                <a:latin typeface="Manrope"/>
              </a:rPr>
              <a:t>DELIVERED · APR–JUN'26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858768" y="731520"/>
            <a:ext cx="2871216" cy="219456"/>
          </a:xfrm>
          <a:prstGeom prst="roundRect">
            <a:avLst>
              <a:gd name="adj" fmla="val 18000"/>
            </a:avLst>
          </a:prstGeom>
          <a:solidFill>
            <a:srgbClr val="604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858768" y="731520"/>
            <a:ext cx="2871216" cy="219456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FFFFFF"/>
                </a:solidFill>
                <a:latin typeface="Manrope"/>
              </a:rPr>
              <a:t>METRICS &amp; TREND (JAN–JUN'26)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775704" y="731520"/>
            <a:ext cx="2075688" cy="219456"/>
          </a:xfrm>
          <a:prstGeom prst="roundRect">
            <a:avLst>
              <a:gd name="adj" fmla="val 1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775704" y="731520"/>
            <a:ext cx="2075688" cy="219456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FFFFFF"/>
                </a:solidFill>
                <a:latin typeface="Manrope"/>
              </a:rPr>
              <a:t>NEXT FOCUS · JUL–AUG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74320" y="987552"/>
            <a:ext cx="138988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709928" y="987552"/>
            <a:ext cx="2103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3858768" y="987552"/>
            <a:ext cx="2871216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6775704" y="987552"/>
            <a:ext cx="207568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74320" y="987552"/>
            <a:ext cx="13898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111827"/>
                </a:solidFill>
                <a:latin typeface="Manrope"/>
              </a:rPr>
              <a:t>Drive FO App to 2,000 DAU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30">
                <a:solidFill>
                  <a:srgbClr val="5D6675"/>
                </a:solidFill>
                <a:latin typeface="Manrope"/>
              </a:rPr>
              <a:t>Better load experience &amp; payment visibility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709928" y="987552"/>
            <a:ext cx="2103120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Load discovery &amp; experience revamp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In-app payment visibility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Bid &amp; trip status surfacing</a:t>
            </a:r>
          </a:p>
        </p:txBody>
      </p:sp>
      <p:pic>
        <p:nvPicPr>
          <p:cNvPr id="166" name="Picture 165" descr="c1_da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87" y="1095085"/>
            <a:ext cx="1572768" cy="534741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5522976" y="987552"/>
            <a:ext cx="11704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DAU 178→</a:t>
            </a:r>
            <a:r>
              <a:rPr b="1" sz="650">
                <a:solidFill>
                  <a:srgbClr val="1C6B2D"/>
                </a:solidFill>
                <a:latin typeface="Manrope"/>
              </a:rPr>
              <a:t>252</a:t>
            </a:r>
            <a:r>
              <a:rPr b="0" sz="650">
                <a:solidFill>
                  <a:srgbClr val="111827"/>
                </a:solidFill>
                <a:latin typeface="Manrope"/>
              </a:rPr>
              <a:t> (+42%)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Installs 1,449→1,935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MAU 1,027→1,325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775704" y="987552"/>
            <a:ext cx="20756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Payment status timeline in FO App (POD→UTR)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Push DAU toward 2,000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Lift WAU (582→747), cut uninstalls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74320" y="1764792"/>
            <a:ext cx="1389888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1709928" y="1764792"/>
            <a:ext cx="2103120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3858768" y="1764792"/>
            <a:ext cx="2871216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6775704" y="1764792"/>
            <a:ext cx="2075688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74320" y="1764792"/>
            <a:ext cx="13898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111827"/>
                </a:solidFill>
                <a:latin typeface="Manrope"/>
              </a:rPr>
              <a:t>Improve demand fulfilment to 50%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30">
                <a:solidFill>
                  <a:srgbClr val="5D6675"/>
                </a:solidFill>
                <a:latin typeface="Manrope"/>
              </a:rPr>
              <a:t>Matching, bid ranges &amp; real-time visibility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709928" y="1764792"/>
            <a:ext cx="2103120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Suggested bid ranges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Real-time matching visibility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FO–demand matching tuning</a:t>
            </a:r>
          </a:p>
        </p:txBody>
      </p:sp>
      <p:pic>
        <p:nvPicPr>
          <p:cNvPr id="175" name="Picture 174" descr="c2_fulf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7" y="1872325"/>
            <a:ext cx="1572768" cy="53474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5522976" y="1764792"/>
            <a:ext cx="11704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Placeable fulfil 31→</a:t>
            </a:r>
            <a:r>
              <a:rPr b="1" sz="650">
                <a:solidFill>
                  <a:srgbClr val="1C6B2D"/>
                </a:solidFill>
                <a:latin typeface="Manrope"/>
              </a:rPr>
              <a:t>43.5%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Bids 670→725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Unique FOs 211→267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775704" y="1764792"/>
            <a:ext cx="20756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Sustain 50% placeable-fulfilment target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Bid ranges &amp; matching visibility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Rebuild bid consistency across lanes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74320" y="2542032"/>
            <a:ext cx="138988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1709928" y="2542032"/>
            <a:ext cx="2103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3858768" y="2542032"/>
            <a:ext cx="2871216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6775704" y="2542032"/>
            <a:ext cx="207568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74320" y="2542032"/>
            <a:ext cx="13898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111827"/>
                </a:solidFill>
                <a:latin typeface="Manrope"/>
              </a:rPr>
              <a:t>Increase inventory 50% (1,500/mo)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30">
                <a:solidFill>
                  <a:srgbClr val="5D6675"/>
                </a:solidFill>
                <a:latin typeface="Manrope"/>
              </a:rPr>
              <a:t>Via automated agentic calling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709928" y="2542032"/>
            <a:ext cx="2103120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Agentic calling for inventory (AI bot)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Call → inventory 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Manual-ops reduction</a:t>
            </a:r>
          </a:p>
        </p:txBody>
      </p:sp>
      <p:pic>
        <p:nvPicPr>
          <p:cNvPr id="184" name="Picture 183" descr="c3_in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4487" y="2649565"/>
            <a:ext cx="1572768" cy="534741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5522976" y="2542032"/>
            <a:ext cx="11704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AI inv 728→</a:t>
            </a:r>
            <a:r>
              <a:rPr b="1" sz="650">
                <a:solidFill>
                  <a:srgbClr val="1C6B2D"/>
                </a:solidFill>
                <a:latin typeface="Manrope"/>
              </a:rPr>
              <a:t>1,043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Manual 1,098→</a:t>
            </a:r>
            <a:r>
              <a:rPr b="1" sz="650">
                <a:solidFill>
                  <a:srgbClr val="980000"/>
                </a:solidFill>
                <a:latin typeface="Manrope"/>
              </a:rPr>
              <a:t>472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Agent calls → 16k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775704" y="2542032"/>
            <a:ext cx="20756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Inventory quality: best-time-to-call, power-lane, FO filtering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Lift placeable conversion (23.9→11.4%)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Grow net inventory to 1,500/mo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74320" y="3319272"/>
            <a:ext cx="1389888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1709928" y="3319272"/>
            <a:ext cx="2103120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3858768" y="3319272"/>
            <a:ext cx="2871216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6775704" y="3319272"/>
            <a:ext cx="2075688" cy="749808"/>
          </a:xfrm>
          <a:prstGeom prst="roundRect">
            <a:avLst>
              <a:gd name="adj" fmla="val 6000"/>
            </a:avLst>
          </a:prstGeom>
          <a:solidFill>
            <a:srgbClr val="F1FBF5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74320" y="3319272"/>
            <a:ext cx="13898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111827"/>
                </a:solidFill>
                <a:latin typeface="Manrope"/>
              </a:rPr>
              <a:t>Cost to serve reduction 70%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30">
                <a:solidFill>
                  <a:srgbClr val="5D6675"/>
                </a:solidFill>
                <a:latin typeface="Manrope"/>
              </a:rPr>
              <a:t>Automate ops processes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709928" y="3319272"/>
            <a:ext cx="2103120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Automated Vahan verification (LSP WhatsApp)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Automated journey/transit updates</a:t>
            </a:r>
          </a:p>
        </p:txBody>
      </p:sp>
      <p:pic>
        <p:nvPicPr>
          <p:cNvPr id="193" name="Picture 192" descr="c4_call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4487" y="3426805"/>
            <a:ext cx="1572768" cy="534741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5522976" y="3319272"/>
            <a:ext cx="1170432" cy="7498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~10 hrs/day CT effort saved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~15% CT resource-cost cut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Agent calls 12k→16k (peak)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775704" y="3319272"/>
            <a:ext cx="2075688" cy="749808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FO doc collection via app incentives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AI City-Team for SIM-consent 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Transit-delay detection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274320" y="4096512"/>
            <a:ext cx="1389888" cy="5486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1709928" y="4096512"/>
            <a:ext cx="2103120" cy="5486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3858768" y="4096512"/>
            <a:ext cx="2871216" cy="5486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6775704" y="4096512"/>
            <a:ext cx="2075688" cy="5486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74320" y="4096512"/>
            <a:ext cx="1389888" cy="548640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800">
                <a:solidFill>
                  <a:srgbClr val="111827"/>
                </a:solidFill>
                <a:latin typeface="Manrope"/>
              </a:rPr>
              <a:t>Ledger automation for compliance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30">
                <a:solidFill>
                  <a:srgbClr val="5D6675"/>
                </a:solidFill>
                <a:latin typeface="Manrope"/>
              </a:rPr>
              <a:t>Trip &amp; party-level ledger · NEW (Jun)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709928" y="4096512"/>
            <a:ext cx="2103120" cy="548640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Trip &amp; party-level ledger — kickoff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791456" y="42519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D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791456" y="4251960"/>
            <a:ext cx="1005840" cy="237744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1" sz="700">
                <a:solidFill>
                  <a:srgbClr val="6043A3"/>
                </a:solidFill>
                <a:latin typeface="Manrope"/>
              </a:rPr>
              <a:t>New · Jun'26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775704" y="4096512"/>
            <a:ext cx="2075688" cy="548640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Build trip-level &amp; party-level ledgers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650">
                <a:solidFill>
                  <a:srgbClr val="111827"/>
                </a:solidFill>
                <a:latin typeface="Manrope"/>
              </a:rPr>
              <a:t>• </a:t>
            </a:r>
            <a:r>
              <a:rPr b="0" sz="650">
                <a:solidFill>
                  <a:srgbClr val="111827"/>
                </a:solidFill>
                <a:latin typeface="Manrope"/>
              </a:rPr>
              <a:t>Wallet-based auto-reconciliation across trips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74320" y="4828032"/>
            <a:ext cx="6949440" cy="182880"/>
          </a:xfrm>
          <a:prstGeom prst="rect">
            <a:avLst/>
          </a:prstGeom>
          <a:noFill/>
        </p:spPr>
        <p:txBody>
          <a:bodyPr wrap="square" anchor="ctr" lIns="45720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b="0" sz="550">
                <a:solidFill>
                  <a:srgbClr val="5D6675"/>
                </a:solidFill>
                <a:latin typeface="Manrope"/>
              </a:rPr>
              <a:t>Trend from monthly metrics (Jan–Jun'26); Apr–Jun highlighted. Feature names indicative — confirm against Linear delivered stories / roadmap.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24"/>
          <p:cNvGraphicFramePr/>
          <p:nvPr/>
        </p:nvGraphicFramePr>
        <p:xfrm>
          <a:off x="242400" y="6432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{EEE02122-0968-4535-85BE-7FB82C2E50CA}</a:tableStyleId>
              </a:tblPr>
              <a:tblGrid>
                <a:gridCol w="1159675"/>
                <a:gridCol w="1833825"/>
                <a:gridCol w="849825"/>
                <a:gridCol w="802275"/>
                <a:gridCol w="3971000"/>
              </a:tblGrid>
              <a:tr h="28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Customer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Stage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ETA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MRR 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(INR Lacs)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Comments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Novoco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Live 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May 4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8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Pidilite Phase 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       May 7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Existing customer, no additional MRR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MSP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sng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Apr 25</a:t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May 22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0.5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Pittie Group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3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Client development is in progress. Awaiting development completion timelines from the client to finalize the go-live date.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TCPL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sng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May 15</a:t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June 15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3.5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Timeline shifted due to expanded scope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Diageo Phase 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UAT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Jun 29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UAT 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Tata Bluescope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Partially 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NA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2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Live with 8 locations. 1 plant go live pending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Kajaria Ceramics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Kick Off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2.7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The project kick-off initiated on 5th June,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JSW Steel plant addition 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Kick Off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New Plants addition via Integration we got approval from JSW Management Kickoff call with JSW IT is scheduled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BASF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Aug 18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Solutioning and dev running in parallel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Freight Tiger raises $6.5mn led by Mathew Cyriac's Florintree - Freight  Tiger" id="158" name="Google Shape;158;p24"/>
          <p:cNvPicPr preferRelativeResize="0"/>
          <p:nvPr/>
        </p:nvPicPr>
        <p:blipFill rotWithShape="1">
          <a:blip r:embed="rId3">
            <a:alphaModFix/>
          </a:blip>
          <a:srcRect b="11241" l="0" r="21086" t="14115"/>
          <a:stretch/>
        </p:blipFill>
        <p:spPr>
          <a:xfrm>
            <a:off x="8247328" y="65382"/>
            <a:ext cx="821475" cy="3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4"/>
          <p:cNvCxnSpPr/>
          <p:nvPr/>
        </p:nvCxnSpPr>
        <p:spPr>
          <a:xfrm>
            <a:off x="242398" y="642473"/>
            <a:ext cx="861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4"/>
          <p:cNvSpPr txBox="1"/>
          <p:nvPr>
            <p:ph type="title"/>
          </p:nvPr>
        </p:nvSpPr>
        <p:spPr>
          <a:xfrm>
            <a:off x="190600" y="20133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Customer Integrations</a:t>
            </a:r>
            <a:endParaRPr sz="1700">
              <a:solidFill>
                <a:srgbClr val="98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b="0" lang="en" sz="1200">
                <a:latin typeface="Manrope"/>
                <a:ea typeface="Manrope"/>
                <a:cs typeface="Manrope"/>
                <a:sym typeface="Manrope"/>
              </a:rPr>
              <a:t>In progress integrations and their current statuses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7182075" y="4905000"/>
            <a:ext cx="1652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latin typeface="Manrope"/>
                <a:ea typeface="Manrope"/>
                <a:cs typeface="Manrope"/>
                <a:sym typeface="Manrope"/>
              </a:rPr>
              <a:t>@FreightTiger confidential</a:t>
            </a:r>
            <a:endParaRPr b="0" i="0" sz="800" u="none" cap="none" strike="noStrike">
              <a:solidFill>
                <a:srgbClr val="D9D9D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957011" y="41638"/>
            <a:ext cx="3537300" cy="307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Product/Tech team to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A90"/>
      </a:accent1>
      <a:accent2>
        <a:srgbClr val="48A1FA"/>
      </a:accent2>
      <a:accent3>
        <a:srgbClr val="85C0FB"/>
      </a:accent3>
      <a:accent4>
        <a:srgbClr val="5B9BD5"/>
      </a:accent4>
      <a:accent5>
        <a:srgbClr val="7B7B7B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